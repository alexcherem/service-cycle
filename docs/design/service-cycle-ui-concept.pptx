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b3355b5cb3419e" /><Relationship Type="http://schemas.openxmlformats.org/officeDocument/2006/relationships/extended-properties" Target="/docProps/app.xml" Id="Rbabe880d71bb4766" /><Relationship Type="http://schemas.openxmlformats.org/officeDocument/2006/relationships/officeDocument" Target="/ppt/presentation.xml" Id="R70492c7d41d74e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f1b63a6d374de9"/>
  </p:sldMasterIdLst>
  <p:notesMasterIdLst>
    <p:notesMasterId xmlns:r="http://schemas.openxmlformats.org/officeDocument/2006/relationships" r:id="R8a17e8afba69458d"/>
  </p:notesMasterIdLst>
  <p:sldIdLst>
    <p:sldId xmlns:r="http://schemas.openxmlformats.org/officeDocument/2006/relationships" id="256" r:id="R97488227d5884788"/>
    <p:sldId xmlns:r="http://schemas.openxmlformats.org/officeDocument/2006/relationships" id="257" r:id="Rcadc848ee9354014"/>
    <p:sldId xmlns:r="http://schemas.openxmlformats.org/officeDocument/2006/relationships" id="258" r:id="Ra7b17cf36c4542a6"/>
    <p:sldId xmlns:r="http://schemas.openxmlformats.org/officeDocument/2006/relationships" id="259" r:id="R5ca53c5ba7fa4481"/>
    <p:sldId xmlns:r="http://schemas.openxmlformats.org/officeDocument/2006/relationships" id="260" r:id="R9829c9b9c1ba4ae5"/>
    <p:sldId xmlns:r="http://schemas.openxmlformats.org/officeDocument/2006/relationships" id="261" r:id="R3fd6c97fe17e423e"/>
    <p:sldId xmlns:r="http://schemas.openxmlformats.org/officeDocument/2006/relationships" id="262" r:id="R6f7efab912734ace"/>
    <p:sldId xmlns:r="http://schemas.openxmlformats.org/officeDocument/2006/relationships" id="263" r:id="Re085e68a0fd94f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2f04892c9e461f" /><Relationship Type="http://schemas.openxmlformats.org/officeDocument/2006/relationships/slideMaster" Target="/ppt/slideMasters/slideMaster1.xml" Id="R6bf1b63a6d374de9" /><Relationship Type="http://schemas.openxmlformats.org/officeDocument/2006/relationships/notesMaster" Target="/ppt/notesMasters/notesMaster1.xml" Id="R8a17e8afba69458d" /><Relationship Type="http://schemas.openxmlformats.org/officeDocument/2006/relationships/presProps" Target="/ppt/presProps.xml" Id="R7800ce0f3ead4a9f" /><Relationship Type="http://schemas.openxmlformats.org/officeDocument/2006/relationships/tableStyles" Target="/ppt/tableStyles.xml" Id="R7ce3e8baff9a42ca" /><Relationship Type="http://schemas.openxmlformats.org/officeDocument/2006/relationships/slide" Target="/ppt/slides/slide1.xml" Id="R97488227d5884788" /><Relationship Type="http://schemas.openxmlformats.org/officeDocument/2006/relationships/slide" Target="/ppt/slides/slide2.xml" Id="Rcadc848ee9354014" /><Relationship Type="http://schemas.openxmlformats.org/officeDocument/2006/relationships/slide" Target="/ppt/slides/slide3.xml" Id="Ra7b17cf36c4542a6" /><Relationship Type="http://schemas.openxmlformats.org/officeDocument/2006/relationships/slide" Target="/ppt/slides/slide4.xml" Id="R5ca53c5ba7fa4481" /><Relationship Type="http://schemas.openxmlformats.org/officeDocument/2006/relationships/slide" Target="/ppt/slides/slide5.xml" Id="R9829c9b9c1ba4ae5" /><Relationship Type="http://schemas.openxmlformats.org/officeDocument/2006/relationships/slide" Target="/ppt/slides/slide6.xml" Id="R3fd6c97fe17e423e" /><Relationship Type="http://schemas.openxmlformats.org/officeDocument/2006/relationships/slide" Target="/ppt/slides/slide7.xml" Id="R6f7efab912734ace" /><Relationship Type="http://schemas.openxmlformats.org/officeDocument/2006/relationships/slide" Target="/ppt/slides/slide8.xml" Id="Re085e68a0fd94f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93ff66c8514f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7a97c753ef47f2" /><Relationship Type="http://schemas.openxmlformats.org/officeDocument/2006/relationships/notesMaster" Target="/ppt/notesMasters/notesMaster1.xml" Id="Re5b4d904633f4a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c29ebc0ea74fe6" /><Relationship Type="http://schemas.openxmlformats.org/officeDocument/2006/relationships/notesMaster" Target="/ppt/notesMasters/notesMaster1.xml" Id="Rcaba201f5af548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b1fd60a85f4c36" /><Relationship Type="http://schemas.openxmlformats.org/officeDocument/2006/relationships/notesMaster" Target="/ppt/notesMasters/notesMaster1.xml" Id="R59fdda9ee3ef4d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83c8dae10a416d" /><Relationship Type="http://schemas.openxmlformats.org/officeDocument/2006/relationships/notesMaster" Target="/ppt/notesMasters/notesMaster1.xml" Id="R1e6dba00d70343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de7929114a4817" /><Relationship Type="http://schemas.openxmlformats.org/officeDocument/2006/relationships/notesMaster" Target="/ppt/notesMasters/notesMaster1.xml" Id="Rf07f29538b7543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1220fb9d9c4b99" /><Relationship Type="http://schemas.openxmlformats.org/officeDocument/2006/relationships/notesMaster" Target="/ppt/notesMasters/notesMaster1.xml" Id="Re08b292538cd4c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83efe47e1348dc" /><Relationship Type="http://schemas.openxmlformats.org/officeDocument/2006/relationships/notesMaster" Target="/ppt/notesMasters/notesMaster1.xml" Id="R6312cdd4fe6843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b627f8da15498d" /><Relationship Type="http://schemas.openxmlformats.org/officeDocument/2006/relationships/notesMaster" Target="/ppt/notesMasters/notesMaster1.xml" Id="R9c7ee1a55f564e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concept based on the startup discussion with the user; no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interface concept created specifically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interface concept created specifically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interface concept created specifically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interface concept created specifically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interface concept created specifically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interface concept created specifically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interface concept created specifically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af55ba727f46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f751c32fe24b64" /><Relationship Type="http://schemas.openxmlformats.org/officeDocument/2006/relationships/slideLayout" Target="/ppt/slideLayouts/slideLayout1.xml" Id="R5215e1a37b7942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15e1a37b7942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d745ec41e4b6e" /><Relationship Type="http://schemas.openxmlformats.org/officeDocument/2006/relationships/notesSlide" Target="/ppt/notesSlides/notesSlide1.xml" Id="R219a187ae5f94b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729205dae48fc" /><Relationship Type="http://schemas.openxmlformats.org/officeDocument/2006/relationships/image" Target="/ppt/media/image.png" Id="Rc60ef4d5b54443a4" /><Relationship Type="http://schemas.openxmlformats.org/officeDocument/2006/relationships/notesSlide" Target="/ppt/notesSlides/notesSlide2.xml" Id="Rb9076618ccc641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443fd90644ae5" /><Relationship Type="http://schemas.openxmlformats.org/officeDocument/2006/relationships/image" Target="/ppt/media/image2.png" Id="R4c3855ef0c504e33" /><Relationship Type="http://schemas.openxmlformats.org/officeDocument/2006/relationships/notesSlide" Target="/ppt/notesSlides/notesSlide3.xml" Id="Rb0fa883ac2ef40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d527769a840e5" /><Relationship Type="http://schemas.openxmlformats.org/officeDocument/2006/relationships/image" Target="/ppt/media/image3.png" Id="Rcd5680c33cb94f74" /><Relationship Type="http://schemas.openxmlformats.org/officeDocument/2006/relationships/notesSlide" Target="/ppt/notesSlides/notesSlide4.xml" Id="R782b1567cac548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5e669606b4cfb" /><Relationship Type="http://schemas.openxmlformats.org/officeDocument/2006/relationships/image" Target="/ppt/media/image4.png" Id="R08fe86d33229407d" /><Relationship Type="http://schemas.openxmlformats.org/officeDocument/2006/relationships/notesSlide" Target="/ppt/notesSlides/notesSlide5.xml" Id="Rf910bd94033c44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56744d95c44fb" /><Relationship Type="http://schemas.openxmlformats.org/officeDocument/2006/relationships/image" Target="/ppt/media/image5.png" Id="R9e94ff135b2c4a78" /><Relationship Type="http://schemas.openxmlformats.org/officeDocument/2006/relationships/notesSlide" Target="/ppt/notesSlides/notesSlide6.xml" Id="R7cf17ac8a50e41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2c7c307c34a2c" /><Relationship Type="http://schemas.openxmlformats.org/officeDocument/2006/relationships/image" Target="/ppt/media/image6.png" Id="Re80f3315543446b3" /><Relationship Type="http://schemas.openxmlformats.org/officeDocument/2006/relationships/notesSlide" Target="/ppt/notesSlides/notesSlide7.xml" Id="R44d5f7167d4d4e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0f27ed9634a00" /><Relationship Type="http://schemas.openxmlformats.org/officeDocument/2006/relationships/image" Target="/ppt/media/image7.png" Id="R12d1d8fe6ccf421c" /><Relationship Type="http://schemas.openxmlformats.org/officeDocument/2006/relationships/notesSlide" Target="/ppt/notesSlides/notesSlide8.xml" Id="R90d1846522844a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E98F7EBF-68BF-43F7-BFC3-380D8CC3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484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84F5"/>
                </a:solidFill>
                <a:latin typeface="Arial"/>
                <a:ea typeface="Arial"/>
                <a:cs typeface="Arial"/>
              </a:rPr>
              <a:t>КОНЦЕПТ B2B-ПРОДУКТА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637477D-A92E-4166-AA5D-D2975485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809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Сервисный</a:t>
            </a:r>
          </a:p>
          <a:p xmlns:a="http://schemas.openxmlformats.org/drawingml/2006/main">
            <a:pPr>
              <a:buNone/>
              <a:defRPr sz="6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цикл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BD0152C-6EEC-45AB-9A57-2CA32A03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752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071B4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071B44"/>
                </a:solidFill>
                <a:latin typeface="Arial"/>
                <a:ea typeface="Arial"/>
                <a:cs typeface="Arial"/>
              </a:rPr>
              <a:t>Система автоматического возврата клиентов</a:t>
            </a:r>
          </a:p>
          <a:p xmlns:a="http://schemas.openxmlformats.org/drawingml/2006/main">
            <a:pPr>
              <a:buNone/>
              <a:defRPr sz="2250">
                <a:solidFill>
                  <a:srgbClr val="071B4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071B44"/>
                </a:solidFill>
                <a:latin typeface="Arial"/>
                <a:ea typeface="Arial"/>
                <a:cs typeface="Arial"/>
              </a:rPr>
              <a:t>на плановое обслуживание оборудования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36B8BD4A-6543-487F-8363-79971E86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00200"/>
            <a:ext cx="18859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4F5"/>
          </a:solidFill>
          <a:ln xmlns:a="http://schemas.openxmlformats.org/drawingml/2006/main" w="0">
            <a:solidFill>
              <a:srgbClr val="2484F5"/>
            </a:solidFill>
            <a:prstDash val="solid"/>
          </a:ln>
        </p:spPr>
      </p:sp>
      <p:sp>
        <p:nvSpPr>
          <p:cNvPr id="5" name="cover-accent-soft">
            <a:extLst xmlns:a="http://schemas.openxmlformats.org/drawingml/2006/main">
              <a:ext uri="{FF2B5EF4-FFF2-40B4-BE49-F238E27FC236}">
                <a16:creationId xmlns:a16="http://schemas.microsoft.com/office/drawing/2014/main" id="{06558A09-0DA5-4B90-8E51-EDD8F284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400300"/>
            <a:ext cx="1466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page-1">
            <a:extLst xmlns:a="http://schemas.openxmlformats.org/drawingml/2006/main">
              <a:ext uri="{FF2B5EF4-FFF2-40B4-BE49-F238E27FC236}">
                <a16:creationId xmlns:a16="http://schemas.microsoft.com/office/drawing/2014/main" id="{4924D3CC-095B-4833-9405-C15CDDF3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579066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99DB2D4F-ED6E-44B7-93B8-3702EB42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Компания начинает работу самостоятельно</a:t>
            </a:r>
          </a:p>
        </p:txBody>
      </p:sp>
      <p:sp>
        <p:nvSpPr>
          <p:cNvPr id="2" name="subtitle-2">
            <a:extLst xmlns:a="http://schemas.openxmlformats.org/drawingml/2006/main">
              <a:ext uri="{FF2B5EF4-FFF2-40B4-BE49-F238E27FC236}">
                <a16:creationId xmlns:a16="http://schemas.microsoft.com/office/drawing/2014/main" id="{6A97B35D-2D99-46FD-BC9B-9DA9C8CA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2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27A"/>
                </a:solidFill>
                <a:latin typeface="Arial"/>
                <a:ea typeface="Arial"/>
                <a:cs typeface="Arial"/>
              </a:rPr>
              <a:t>Регистрация, подтверждение email и короткий онбординг — без участия администратора.</a:t>
            </a:r>
          </a:p>
        </p:txBody>
      </p:sp>
      <p:sp>
        <p:nvSpPr>
          <p:cNvPr id="3" name="screen-backing-2">
            <a:extLst xmlns:a="http://schemas.openxmlformats.org/drawingml/2006/main">
              <a:ext uri="{FF2B5EF4-FFF2-40B4-BE49-F238E27FC236}">
                <a16:creationId xmlns:a16="http://schemas.microsoft.com/office/drawing/2014/main" id="{2B0B11CF-F032-4C3F-BA1A-1C1E68EC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171575"/>
            <a:ext cx="9963150" cy="56007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63CE3BFB-7C56-4ECC-89C2-D5F14E9C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ef4d5b54443a4"/>
          <a:stretch xmlns:a="http://schemas.openxmlformats.org/drawingml/2006/main"/>
        </p:blipFill>
        <p:spPr>
          <a:xfrm xmlns:a="http://schemas.openxmlformats.org/drawingml/2006/main" flipH="0" flipV="0">
            <a:off x="1137170" y="1181100"/>
            <a:ext cx="9917661" cy="55816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707037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">
            <a:extLst xmlns:a="http://schemas.openxmlformats.org/drawingml/2006/main">
              <a:ext uri="{FF2B5EF4-FFF2-40B4-BE49-F238E27FC236}">
                <a16:creationId xmlns:a16="http://schemas.microsoft.com/office/drawing/2014/main" id="{AB5C6069-2075-44F5-BDE0-8FF4F769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Клиентскую базу можно загрузить за несколько минут</a:t>
            </a:r>
          </a:p>
        </p:txBody>
      </p:sp>
      <p:sp>
        <p:nvSpPr>
          <p:cNvPr id="2" name="subtitle-3">
            <a:extLst xmlns:a="http://schemas.openxmlformats.org/drawingml/2006/main">
              <a:ext uri="{FF2B5EF4-FFF2-40B4-BE49-F238E27FC236}">
                <a16:creationId xmlns:a16="http://schemas.microsoft.com/office/drawing/2014/main" id="{A7514AFE-246E-4509-BF3C-3C8FE3E6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2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27A"/>
                </a:solidFill>
                <a:latin typeface="Arial"/>
                <a:ea typeface="Arial"/>
                <a:cs typeface="Arial"/>
              </a:rPr>
              <a:t>Excel-импорт и ручное добавление позволяют начать без сложной интеграции.</a:t>
            </a:r>
          </a:p>
        </p:txBody>
      </p:sp>
      <p:sp>
        <p:nvSpPr>
          <p:cNvPr id="3" name="screen-backing-3">
            <a:extLst xmlns:a="http://schemas.openxmlformats.org/drawingml/2006/main">
              <a:ext uri="{FF2B5EF4-FFF2-40B4-BE49-F238E27FC236}">
                <a16:creationId xmlns:a16="http://schemas.microsoft.com/office/drawing/2014/main" id="{A9364085-345F-43FE-BA62-45754436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171575"/>
            <a:ext cx="9963150" cy="56007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B2510E4D-8467-4FA9-84B1-B9720096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855ef0c504e33"/>
          <a:stretch xmlns:a="http://schemas.openxmlformats.org/drawingml/2006/main"/>
        </p:blipFill>
        <p:spPr>
          <a:xfrm xmlns:a="http://schemas.openxmlformats.org/drawingml/2006/main" flipH="0" flipV="0">
            <a:off x="1137170" y="1181100"/>
            <a:ext cx="9917661" cy="55816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9616282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">
            <a:extLst xmlns:a="http://schemas.openxmlformats.org/drawingml/2006/main">
              <a:ext uri="{FF2B5EF4-FFF2-40B4-BE49-F238E27FC236}">
                <a16:creationId xmlns:a16="http://schemas.microsoft.com/office/drawing/2014/main" id="{AB5C6069-2075-44F5-BDE0-8FF4F769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Клиент и оборудование связаны одной историей</a:t>
            </a:r>
          </a:p>
        </p:txBody>
      </p:sp>
      <p:sp>
        <p:nvSpPr>
          <p:cNvPr id="2" name="subtitle-3">
            <a:extLst xmlns:a="http://schemas.openxmlformats.org/drawingml/2006/main">
              <a:ext uri="{FF2B5EF4-FFF2-40B4-BE49-F238E27FC236}">
                <a16:creationId xmlns:a16="http://schemas.microsoft.com/office/drawing/2014/main" id="{A7514AFE-246E-4509-BF3C-3C8FE3E6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2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27A"/>
                </a:solidFill>
                <a:latin typeface="Arial"/>
                <a:ea typeface="Arial"/>
                <a:cs typeface="Arial"/>
              </a:rPr>
              <a:t>База хранит объект обслуживания, периодичность, даты и все выполненные работы.</a:t>
            </a:r>
          </a:p>
        </p:txBody>
      </p:sp>
      <p:sp>
        <p:nvSpPr>
          <p:cNvPr id="3" name="screen-backing-3">
            <a:extLst xmlns:a="http://schemas.openxmlformats.org/drawingml/2006/main">
              <a:ext uri="{FF2B5EF4-FFF2-40B4-BE49-F238E27FC236}">
                <a16:creationId xmlns:a16="http://schemas.microsoft.com/office/drawing/2014/main" id="{A9364085-345F-43FE-BA62-45754436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171575"/>
            <a:ext cx="9963150" cy="56007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680c33cb94f74"/>
          <a:stretch xmlns:a="http://schemas.openxmlformats.org/drawingml/2006/main"/>
        </p:blipFill>
        <p:spPr>
          <a:xfrm xmlns:a="http://schemas.openxmlformats.org/drawingml/2006/main">
            <a:off x="1137170" y="1181100"/>
            <a:ext cx="9917661" cy="5581650"/>
          </a:xfrm>
          <a:prstGeom xmlns:a="http://schemas.openxmlformats.org/drawingml/2006/main" prst="roundRect">
            <a:avLst>
              <a:gd name="adj" fmla="val 2048"/>
            </a:avLst>
          </a:prstGeom>
        </p:spPr>
      </p:pic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B2510E4D-8467-4FA9-84B1-B9720096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616282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FDC8FECD-5FDE-482C-9A7F-42B44AEC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Сервисный цикл настраивается один раз</a:t>
            </a:r>
          </a:p>
        </p:txBody>
      </p:sp>
      <p:sp>
        <p:nvSpPr>
          <p:cNvPr id="2" name="subtitle-4">
            <a:extLst xmlns:a="http://schemas.openxmlformats.org/drawingml/2006/main">
              <a:ext uri="{FF2B5EF4-FFF2-40B4-BE49-F238E27FC236}">
                <a16:creationId xmlns:a16="http://schemas.microsoft.com/office/drawing/2014/main" id="{B63CF1FE-719F-4CC0-BBF1-3D5FDEC2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2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27A"/>
                </a:solidFill>
                <a:latin typeface="Arial"/>
                <a:ea typeface="Arial"/>
                <a:cs typeface="Arial"/>
              </a:rPr>
              <a:t>Периодичность, канал и сценарий уведомлений определяют дальнейшие действия системы.</a:t>
            </a:r>
          </a:p>
        </p:txBody>
      </p:sp>
      <p:sp>
        <p:nvSpPr>
          <p:cNvPr id="3" name="screen-backing-4">
            <a:extLst xmlns:a="http://schemas.openxmlformats.org/drawingml/2006/main">
              <a:ext uri="{FF2B5EF4-FFF2-40B4-BE49-F238E27FC236}">
                <a16:creationId xmlns:a16="http://schemas.microsoft.com/office/drawing/2014/main" id="{033F0AC0-F49D-4123-B4A0-BDAEBC14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171575"/>
            <a:ext cx="9963150" cy="56007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5EFFEF17-206E-4D30-A9E3-EEBDFB1A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e86d33229407d"/>
          <a:stretch xmlns:a="http://schemas.openxmlformats.org/drawingml/2006/main"/>
        </p:blipFill>
        <p:spPr>
          <a:xfrm xmlns:a="http://schemas.openxmlformats.org/drawingml/2006/main" flipH="0" flipV="0">
            <a:off x="1137170" y="1181100"/>
            <a:ext cx="9917661" cy="55816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6448313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FDC8FECD-5FDE-482C-9A7F-42B44AEC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Ответ клиента превращается в задачу сотруднику</a:t>
            </a:r>
          </a:p>
        </p:txBody>
      </p:sp>
      <p:sp>
        <p:nvSpPr>
          <p:cNvPr id="2" name="subtitle-4">
            <a:extLst xmlns:a="http://schemas.openxmlformats.org/drawingml/2006/main">
              <a:ext uri="{FF2B5EF4-FFF2-40B4-BE49-F238E27FC236}">
                <a16:creationId xmlns:a16="http://schemas.microsoft.com/office/drawing/2014/main" id="{B63CF1FE-719F-4CC0-BBF1-3D5FDEC2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2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27A"/>
                </a:solidFill>
                <a:latin typeface="Arial"/>
                <a:ea typeface="Arial"/>
                <a:cs typeface="Arial"/>
              </a:rPr>
              <a:t>Уведомление → статус клиента → звонок → зафиксированный результат.</a:t>
            </a:r>
          </a:p>
        </p:txBody>
      </p:sp>
      <p:sp>
        <p:nvSpPr>
          <p:cNvPr id="3" name="screen-backing-4">
            <a:extLst xmlns:a="http://schemas.openxmlformats.org/drawingml/2006/main">
              <a:ext uri="{FF2B5EF4-FFF2-40B4-BE49-F238E27FC236}">
                <a16:creationId xmlns:a16="http://schemas.microsoft.com/office/drawing/2014/main" id="{033F0AC0-F49D-4123-B4A0-BDAEBC14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171575"/>
            <a:ext cx="9963150" cy="56007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5EFFEF17-206E-4D30-A9E3-EEBDFB1A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4ff135b2c4a78"/>
          <a:stretch xmlns:a="http://schemas.openxmlformats.org/drawingml/2006/main"/>
        </p:blipFill>
        <p:spPr>
          <a:xfrm xmlns:a="http://schemas.openxmlformats.org/drawingml/2006/main" flipH="0" flipV="0">
            <a:off x="1137170" y="1181100"/>
            <a:ext cx="9917661" cy="55816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6448313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5">
            <a:extLst xmlns:a="http://schemas.openxmlformats.org/drawingml/2006/main">
              <a:ext uri="{FF2B5EF4-FFF2-40B4-BE49-F238E27FC236}">
                <a16:creationId xmlns:a16="http://schemas.microsoft.com/office/drawing/2014/main" id="{E68F578F-E40F-461E-9D5E-BA4F84A1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Клиент отвечает без регистрации и приложения</a:t>
            </a:r>
          </a:p>
        </p:txBody>
      </p:sp>
      <p:sp>
        <p:nvSpPr>
          <p:cNvPr id="2" name="subtitle-5">
            <a:extLst xmlns:a="http://schemas.openxmlformats.org/drawingml/2006/main">
              <a:ext uri="{FF2B5EF4-FFF2-40B4-BE49-F238E27FC236}">
                <a16:creationId xmlns:a16="http://schemas.microsoft.com/office/drawing/2014/main" id="{E05AB6BC-7DA8-499D-B2CC-093DFA41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2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27A"/>
                </a:solidFill>
                <a:latin typeface="Arial"/>
                <a:ea typeface="Arial"/>
                <a:cs typeface="Arial"/>
              </a:rPr>
              <a:t>SMS или Telegram ведут на персональную страницу: записаться, отложить или отказаться.</a:t>
            </a:r>
          </a:p>
        </p:txBody>
      </p:sp>
      <p:sp>
        <p:nvSpPr>
          <p:cNvPr id="3" name="screen-backing-5">
            <a:extLst xmlns:a="http://schemas.openxmlformats.org/drawingml/2006/main">
              <a:ext uri="{FF2B5EF4-FFF2-40B4-BE49-F238E27FC236}">
                <a16:creationId xmlns:a16="http://schemas.microsoft.com/office/drawing/2014/main" id="{31A05A67-F6DF-4F33-8F0E-ADF16950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171575"/>
            <a:ext cx="9963150" cy="56007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f3315543446b3"/>
          <a:stretch xmlns:a="http://schemas.openxmlformats.org/drawingml/2006/main"/>
        </p:blipFill>
        <p:spPr>
          <a:xfrm xmlns:a="http://schemas.openxmlformats.org/drawingml/2006/main">
            <a:off x="1137170" y="1181100"/>
            <a:ext cx="9917661" cy="5581650"/>
          </a:xfrm>
          <a:prstGeom xmlns:a="http://schemas.openxmlformats.org/drawingml/2006/main" prst="roundRect">
            <a:avLst>
              <a:gd name="adj" fmla="val 2048"/>
            </a:avLst>
          </a:prstGeom>
        </p:spPr>
      </p:pic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CFF17759-16A2-408F-966C-37387225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145180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99DB2D4F-ED6E-44B7-93B8-3702EB42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Руководитель сразу видит результат</a:t>
            </a:r>
          </a:p>
        </p:txBody>
      </p:sp>
      <p:sp>
        <p:nvSpPr>
          <p:cNvPr id="2" name="subtitle-2">
            <a:extLst xmlns:a="http://schemas.openxmlformats.org/drawingml/2006/main">
              <a:ext uri="{FF2B5EF4-FFF2-40B4-BE49-F238E27FC236}">
                <a16:creationId xmlns:a16="http://schemas.microsoft.com/office/drawing/2014/main" id="{6A97B35D-2D99-46FD-BC9B-9DA9C8CA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2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27A"/>
                </a:solidFill>
                <a:latin typeface="Arial"/>
                <a:ea typeface="Arial"/>
                <a:cs typeface="Arial"/>
              </a:rPr>
              <a:t>Просрочки, заявки после напоминаний и возвращённая выручка — на одном экране.</a:t>
            </a:r>
          </a:p>
        </p:txBody>
      </p:sp>
      <p:sp>
        <p:nvSpPr>
          <p:cNvPr id="3" name="screen-backing-2">
            <a:extLst xmlns:a="http://schemas.openxmlformats.org/drawingml/2006/main">
              <a:ext uri="{FF2B5EF4-FFF2-40B4-BE49-F238E27FC236}">
                <a16:creationId xmlns:a16="http://schemas.microsoft.com/office/drawing/2014/main" id="{2B0B11CF-F032-4C3F-BA1A-1C1E68EC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171575"/>
            <a:ext cx="9963150" cy="56007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1d8fe6ccf421c"/>
          <a:stretch xmlns:a="http://schemas.openxmlformats.org/drawingml/2006/main"/>
        </p:blipFill>
        <p:spPr>
          <a:xfrm xmlns:a="http://schemas.openxmlformats.org/drawingml/2006/main">
            <a:off x="1137170" y="1181100"/>
            <a:ext cx="9917661" cy="5581650"/>
          </a:xfrm>
          <a:prstGeom xmlns:a="http://schemas.openxmlformats.org/drawingml/2006/main" prst="roundRect">
            <a:avLst>
              <a:gd name="adj" fmla="val 2048"/>
            </a:avLst>
          </a:prstGeom>
        </p:spPr>
      </p:pic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63CE3BFB-7C56-4ECC-89C2-D5F14E9C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07037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2026-08-18T11:45:59.6360000Z</dcterms:created>
  <dcterms:modified xsi:type="dcterms:W3CDTF">2026-08-18T11:45:59.6360000Z</dcterms:modified>
</coreProperties>
</file>