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eca84187034411f" /><Relationship Type="http://schemas.openxmlformats.org/officeDocument/2006/relationships/extended-properties" Target="/docProps/app.xml" Id="R7b2d8327469a44da" /><Relationship Type="http://schemas.openxmlformats.org/officeDocument/2006/relationships/officeDocument" Target="/ppt/presentation.xml" Id="Rc7d8fd2fff27462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e1d3d5fae9747f0"/>
  </p:sldMasterIdLst>
  <p:notesMasterIdLst>
    <p:notesMasterId xmlns:r="http://schemas.openxmlformats.org/officeDocument/2006/relationships" r:id="R3ab5ae25f9ff4019"/>
  </p:notesMasterIdLst>
  <p:sldIdLst>
    <p:sldId xmlns:r="http://schemas.openxmlformats.org/officeDocument/2006/relationships" id="256" r:id="R7fb1dacbefc14da6"/>
    <p:sldId xmlns:r="http://schemas.openxmlformats.org/officeDocument/2006/relationships" id="257" r:id="R69c05dc0029744c6"/>
    <p:sldId xmlns:r="http://schemas.openxmlformats.org/officeDocument/2006/relationships" id="258" r:id="Rbfe510138c55415e"/>
    <p:sldId xmlns:r="http://schemas.openxmlformats.org/officeDocument/2006/relationships" id="259" r:id="R362e2c4341e54ebd"/>
    <p:sldId xmlns:r="http://schemas.openxmlformats.org/officeDocument/2006/relationships" id="260" r:id="R75af491716fd4d3c"/>
    <p:sldId xmlns:r="http://schemas.openxmlformats.org/officeDocument/2006/relationships" id="261" r:id="Rcdb753b78fa44900"/>
    <p:sldId xmlns:r="http://schemas.openxmlformats.org/officeDocument/2006/relationships" id="262" r:id="R42eb04c7041147ab"/>
    <p:sldId xmlns:r="http://schemas.openxmlformats.org/officeDocument/2006/relationships" id="263" r:id="R20f82af6371f4a09"/>
    <p:sldId xmlns:r="http://schemas.openxmlformats.org/officeDocument/2006/relationships" id="264" r:id="Raba5a107f4314f56"/>
    <p:sldId xmlns:r="http://schemas.openxmlformats.org/officeDocument/2006/relationships" id="265" r:id="Ra80607a8a60840bd"/>
    <p:sldId xmlns:r="http://schemas.openxmlformats.org/officeDocument/2006/relationships" id="266" r:id="Reab137c3fe6144b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5df206bed5340b3" /><Relationship Type="http://schemas.openxmlformats.org/officeDocument/2006/relationships/slideMaster" Target="/ppt/slideMasters/slideMaster1.xml" Id="R0e1d3d5fae9747f0" /><Relationship Type="http://schemas.openxmlformats.org/officeDocument/2006/relationships/notesMaster" Target="/ppt/notesMasters/notesMaster1.xml" Id="R3ab5ae25f9ff4019" /><Relationship Type="http://schemas.openxmlformats.org/officeDocument/2006/relationships/presProps" Target="/ppt/presProps.xml" Id="R566ef79b11354d62" /><Relationship Type="http://schemas.openxmlformats.org/officeDocument/2006/relationships/tableStyles" Target="/ppt/tableStyles.xml" Id="R100e2f1fab6d4c69" /><Relationship Type="http://schemas.openxmlformats.org/officeDocument/2006/relationships/slide" Target="/ppt/slides/slide1.xml" Id="R7fb1dacbefc14da6" /><Relationship Type="http://schemas.openxmlformats.org/officeDocument/2006/relationships/slide" Target="/ppt/slides/slide2.xml" Id="R69c05dc0029744c6" /><Relationship Type="http://schemas.openxmlformats.org/officeDocument/2006/relationships/slide" Target="/ppt/slides/slide3.xml" Id="Rbfe510138c55415e" /><Relationship Type="http://schemas.openxmlformats.org/officeDocument/2006/relationships/slide" Target="/ppt/slides/slide4.xml" Id="R362e2c4341e54ebd" /><Relationship Type="http://schemas.openxmlformats.org/officeDocument/2006/relationships/slide" Target="/ppt/slides/slide5.xml" Id="R75af491716fd4d3c" /><Relationship Type="http://schemas.openxmlformats.org/officeDocument/2006/relationships/slide" Target="/ppt/slides/slide6.xml" Id="Rcdb753b78fa44900" /><Relationship Type="http://schemas.openxmlformats.org/officeDocument/2006/relationships/slide" Target="/ppt/slides/slide7.xml" Id="R42eb04c7041147ab" /><Relationship Type="http://schemas.openxmlformats.org/officeDocument/2006/relationships/slide" Target="/ppt/slides/slide8.xml" Id="R20f82af6371f4a09" /><Relationship Type="http://schemas.openxmlformats.org/officeDocument/2006/relationships/slide" Target="/ppt/slides/slide9.xml" Id="Raba5a107f4314f56" /><Relationship Type="http://schemas.openxmlformats.org/officeDocument/2006/relationships/slide" Target="/ppt/slides/slide10.xml" Id="Ra80607a8a60840bd" /><Relationship Type="http://schemas.openxmlformats.org/officeDocument/2006/relationships/slide" Target="/ppt/slides/slide11.xml" Id="Reab137c3fe6144b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1986275324341a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03107acd7a44803" /><Relationship Type="http://schemas.openxmlformats.org/officeDocument/2006/relationships/notesMaster" Target="/ppt/notesMasters/notesMaster1.xml" Id="Rd3ae06810ae6432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f270abdbd9c432f" /><Relationship Type="http://schemas.openxmlformats.org/officeDocument/2006/relationships/notesMaster" Target="/ppt/notesMasters/notesMaster1.xml" Id="R0bbad12a3b494fd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9be6bce51e44d5d" /><Relationship Type="http://schemas.openxmlformats.org/officeDocument/2006/relationships/notesMaster" Target="/ppt/notesMasters/notesMaster1.xml" Id="R3df0724a79ca4a4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426d64f2e0f46a2" /><Relationship Type="http://schemas.openxmlformats.org/officeDocument/2006/relationships/notesMaster" Target="/ppt/notesMasters/notesMaster1.xml" Id="Rf799ea4b119349c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74296e69fe24c7c" /><Relationship Type="http://schemas.openxmlformats.org/officeDocument/2006/relationships/notesMaster" Target="/ppt/notesMasters/notesMaster1.xml" Id="Rf130cca3e925446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51c355f2ae84179" /><Relationship Type="http://schemas.openxmlformats.org/officeDocument/2006/relationships/notesMaster" Target="/ppt/notesMasters/notesMaster1.xml" Id="Re614b686b7d240b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e2c9b86449d4c25" /><Relationship Type="http://schemas.openxmlformats.org/officeDocument/2006/relationships/notesMaster" Target="/ppt/notesMasters/notesMaster1.xml" Id="R1d438da65e114a0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8d0d800ca374e16" /><Relationship Type="http://schemas.openxmlformats.org/officeDocument/2006/relationships/notesMaster" Target="/ppt/notesMasters/notesMaster1.xml" Id="Ra2b76a2e8609426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5e62fb3e71242e1" /><Relationship Type="http://schemas.openxmlformats.org/officeDocument/2006/relationships/notesMaster" Target="/ppt/notesMasters/notesMaster1.xml" Id="R292dfb49a9f1442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e8ce3ce9b3144dd" /><Relationship Type="http://schemas.openxmlformats.org/officeDocument/2006/relationships/notesMaster" Target="/ppt/notesMasters/notesMaster1.xml" Id="R839985f835c0484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86d53fe3f5b417b" /><Relationship Type="http://schemas.openxmlformats.org/officeDocument/2006/relationships/notesMaster" Target="/ppt/notesMasters/notesMaster1.xml" Id="Rbe2c1551e281434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Product concept based on the startup discussion with the user; no external claims used.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AI-generated interface concept created specifically for this deck.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AI-generated interface concept created specifically for this deck.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AI-generated interface concept created specifically for this deck.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AI-generated interface concept created specifically for this deck.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AI-generated interface concept created specifically for this deck.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AI-generated interface concept created specifically for this deck.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AI-generated interface concept created specifically for this deck.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AI-generated interface concept created specifically for this deck.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AI-generated interface concept created specifically for this deck.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AI-generated interface concept created specifically for this deck.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3403cb5029045d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e03639bfcf64470" /><Relationship Type="http://schemas.openxmlformats.org/officeDocument/2006/relationships/slideLayout" Target="/ppt/slideLayouts/slideLayout1.xml" Id="R39a49b260e1d480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9a49b260e1d480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0a9dc9056e49cc" /><Relationship Type="http://schemas.openxmlformats.org/officeDocument/2006/relationships/notesSlide" Target="/ppt/notesSlides/notesSlide1.xml" Id="R27aaf81a51a9469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5fadc1718b4cd6" /><Relationship Type="http://schemas.openxmlformats.org/officeDocument/2006/relationships/image" Target="/ppt/media/image.png" Id="R0554c31abfc94f6a" /><Relationship Type="http://schemas.openxmlformats.org/officeDocument/2006/relationships/notesSlide" Target="/ppt/notesSlides/notesSlide2.xml" Id="R6e6143fe70ef46e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b5bcec804447a7" /><Relationship Type="http://schemas.openxmlformats.org/officeDocument/2006/relationships/image" Target="/ppt/media/image2.png" Id="R130d1541e25842a0" /><Relationship Type="http://schemas.openxmlformats.org/officeDocument/2006/relationships/notesSlide" Target="/ppt/notesSlides/notesSlide3.xml" Id="Re937cbc098e4445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0888749d8646ef" /><Relationship Type="http://schemas.openxmlformats.org/officeDocument/2006/relationships/image" Target="/ppt/media/image3.png" Id="R06aacd0f3f194a29" /><Relationship Type="http://schemas.openxmlformats.org/officeDocument/2006/relationships/notesSlide" Target="/ppt/notesSlides/notesSlide4.xml" Id="Ra6ee6ee78e7b4f1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a6425069c54aaf" /><Relationship Type="http://schemas.openxmlformats.org/officeDocument/2006/relationships/image" Target="/ppt/media/image4.png" Id="Rd9593a6209b742f8" /><Relationship Type="http://schemas.openxmlformats.org/officeDocument/2006/relationships/notesSlide" Target="/ppt/notesSlides/notesSlide5.xml" Id="R955d1a44e0dd447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4069b488894726" /><Relationship Type="http://schemas.openxmlformats.org/officeDocument/2006/relationships/image" Target="/ppt/media/image5.png" Id="R87f0274e9aa04f36" /><Relationship Type="http://schemas.openxmlformats.org/officeDocument/2006/relationships/notesSlide" Target="/ppt/notesSlides/notesSlide6.xml" Id="R3aee6b06a66f462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d5d7f7b2a54cc0" /><Relationship Type="http://schemas.openxmlformats.org/officeDocument/2006/relationships/image" Target="/ppt/media/image6.png" Id="R95d97c8d20ef4561" /><Relationship Type="http://schemas.openxmlformats.org/officeDocument/2006/relationships/notesSlide" Target="/ppt/notesSlides/notesSlide7.xml" Id="R8c85d4726014418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d119f6fa7847de" /><Relationship Type="http://schemas.openxmlformats.org/officeDocument/2006/relationships/image" Target="/ppt/media/image7.png" Id="Rfc9e6094276d45a8" /><Relationship Type="http://schemas.openxmlformats.org/officeDocument/2006/relationships/notesSlide" Target="/ppt/notesSlides/notesSlide8.xml" Id="R98e379930e874e4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a1e04a3f484a29" /><Relationship Type="http://schemas.openxmlformats.org/officeDocument/2006/relationships/image" Target="/ppt/media/image8.png" Id="R8e08aacd120a4658" /><Relationship Type="http://schemas.openxmlformats.org/officeDocument/2006/relationships/notesSlide" Target="/ppt/notesSlides/notesSlide9.xml" Id="R922703e47eeb411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aa357810b24062" /><Relationship Type="http://schemas.openxmlformats.org/officeDocument/2006/relationships/image" Target="/ppt/media/image9.png" Id="R6bd0305237e943e7" /><Relationship Type="http://schemas.openxmlformats.org/officeDocument/2006/relationships/notesSlide" Target="/ppt/notesSlides/notesSlide10.xml" Id="R6f04dfc821eb42f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c77f59de70402d" /><Relationship Type="http://schemas.openxmlformats.org/officeDocument/2006/relationships/image" Target="/ppt/media/image10.png" Id="Ra8902db5afa04313" /><Relationship Type="http://schemas.openxmlformats.org/officeDocument/2006/relationships/notesSlide" Target="/ppt/notesSlides/notesSlide11.xml" Id="R7ee82f27992b447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E98F7EBF-68BF-43F7-BFC3-380D8CC3C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2484F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484F5"/>
                </a:solidFill>
                <a:latin typeface="Arial"/>
                <a:ea typeface="Arial"/>
                <a:cs typeface="Arial"/>
              </a:rPr>
              <a:t>КОНЦЕПТ B2B-ПРОДУКТА</a:t>
            </a:r>
          </a:p>
        </p:txBody>
      </p:sp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3637477D-A92E-4166-AA5D-D2975485E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00200"/>
            <a:ext cx="809625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60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60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Сервисный</a:t>
            </a:r>
          </a:p>
          <a:p xmlns:a="http://schemas.openxmlformats.org/drawingml/2006/main">
            <a:pPr>
              <a:buNone/>
              <a:defRPr sz="60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60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цикл</a:t>
            </a:r>
          </a:p>
        </p:txBody>
      </p:sp>
      <p:sp>
        <p:nvSpPr>
          <p:cNvPr id="3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7BD0152C-6EEC-45AB-9A57-2CA32A03B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476750"/>
            <a:ext cx="75247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250">
                <a:solidFill>
                  <a:srgbClr val="071B44"/>
                </a:solidFill>
                <a:latin typeface="Arial"/>
                <a:ea typeface="Arial"/>
                <a:cs typeface="Arial"/>
              </a:defRPr>
            </a:pPr>
            <a:r>
              <a:rPr sz="2250">
                <a:solidFill>
                  <a:srgbClr val="071B44"/>
                </a:solidFill>
                <a:latin typeface="Arial"/>
                <a:ea typeface="Arial"/>
                <a:cs typeface="Arial"/>
              </a:rPr>
              <a:t>Система автоматического возврата клиентов</a:t>
            </a:r>
          </a:p>
          <a:p xmlns:a="http://schemas.openxmlformats.org/drawingml/2006/main">
            <a:pPr>
              <a:buNone/>
              <a:defRPr sz="2250">
                <a:solidFill>
                  <a:srgbClr val="071B44"/>
                </a:solidFill>
                <a:latin typeface="Arial"/>
                <a:ea typeface="Arial"/>
                <a:cs typeface="Arial"/>
              </a:defRPr>
            </a:pPr>
            <a:r>
              <a:rPr sz="2250">
                <a:solidFill>
                  <a:srgbClr val="071B44"/>
                </a:solidFill>
                <a:latin typeface="Arial"/>
                <a:ea typeface="Arial"/>
                <a:cs typeface="Arial"/>
              </a:rPr>
              <a:t>на плановое обслуживание оборудования</a:t>
            </a:r>
          </a:p>
        </p:txBody>
      </p:sp>
      <p:sp>
        <p:nvSpPr>
          <p:cNvPr id="4" name="cover-accent">
            <a:extLst xmlns:a="http://schemas.openxmlformats.org/drawingml/2006/main">
              <a:ext uri="{FF2B5EF4-FFF2-40B4-BE49-F238E27FC236}">
                <a16:creationId xmlns:a16="http://schemas.microsoft.com/office/drawing/2014/main" id="{36B8BD4A-6543-487F-8363-79971E86F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1600200"/>
            <a:ext cx="1885950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84F5"/>
          </a:solidFill>
          <a:ln xmlns:a="http://schemas.openxmlformats.org/drawingml/2006/main" w="0">
            <a:solidFill>
              <a:srgbClr val="2484F5"/>
            </a:solidFill>
            <a:prstDash val="solid"/>
          </a:ln>
        </p:spPr>
      </p:sp>
      <p:sp>
        <p:nvSpPr>
          <p:cNvPr id="5" name="cover-accent-soft">
            <a:extLst xmlns:a="http://schemas.openxmlformats.org/drawingml/2006/main">
              <a:ext uri="{FF2B5EF4-FFF2-40B4-BE49-F238E27FC236}">
                <a16:creationId xmlns:a16="http://schemas.microsoft.com/office/drawing/2014/main" id="{06558A09-0DA5-4B90-8E51-EDD8F2843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2400300"/>
            <a:ext cx="146685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page-1">
            <a:extLst xmlns:a="http://schemas.openxmlformats.org/drawingml/2006/main">
              <a:ext uri="{FF2B5EF4-FFF2-40B4-BE49-F238E27FC236}">
                <a16:creationId xmlns:a16="http://schemas.microsoft.com/office/drawing/2014/main" id="{4924D3CC-095B-4833-9405-C15CDDF39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38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>
                <a:solidFill>
                  <a:srgbClr val="52627A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52627A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85790665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-2">
            <a:extLst xmlns:a="http://schemas.openxmlformats.org/drawingml/2006/main">
              <a:ext uri="{FF2B5EF4-FFF2-40B4-BE49-F238E27FC236}">
                <a16:creationId xmlns:a16="http://schemas.microsoft.com/office/drawing/2014/main" id="{99DB2D4F-ED6E-44B7-93B8-3702EB42E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57175"/>
            <a:ext cx="10763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Компания начинает работу самостоятельно</a:t>
            </a:r>
          </a:p>
        </p:txBody>
      </p:sp>
      <p:sp>
        <p:nvSpPr>
          <p:cNvPr id="2" name="subtitle-2">
            <a:extLst xmlns:a="http://schemas.openxmlformats.org/drawingml/2006/main">
              <a:ext uri="{FF2B5EF4-FFF2-40B4-BE49-F238E27FC236}">
                <a16:creationId xmlns:a16="http://schemas.microsoft.com/office/drawing/2014/main" id="{6A97B35D-2D99-46FD-BC9B-9DA9C8CAE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62000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52627A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52627A"/>
                </a:solidFill>
                <a:latin typeface="Arial"/>
                <a:ea typeface="Arial"/>
                <a:cs typeface="Arial"/>
              </a:rPr>
              <a:t>Регистрация, подтверждение email и короткий онбординг — без участия администратора.</a:t>
            </a:r>
          </a:p>
        </p:txBody>
      </p:sp>
      <p:sp>
        <p:nvSpPr>
          <p:cNvPr id="3" name="screen-backing-2">
            <a:extLst xmlns:a="http://schemas.openxmlformats.org/drawingml/2006/main">
              <a:ext uri="{FF2B5EF4-FFF2-40B4-BE49-F238E27FC236}">
                <a16:creationId xmlns:a16="http://schemas.microsoft.com/office/drawing/2014/main" id="{2B0B11CF-F032-4C3F-BA1A-1C1E68EC9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1171575"/>
            <a:ext cx="9963150" cy="5600700"/>
          </a:xfrm>
          <a:prstGeom xmlns:a="http://schemas.openxmlformats.org/drawingml/2006/main" prst="roundRect">
            <a:avLst>
              <a:gd name="adj" fmla="val 2041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page-2">
            <a:extLst xmlns:a="http://schemas.openxmlformats.org/drawingml/2006/main">
              <a:ext uri="{FF2B5EF4-FFF2-40B4-BE49-F238E27FC236}">
                <a16:creationId xmlns:a16="http://schemas.microsoft.com/office/drawing/2014/main" id="{63CE3BFB-7C56-4ECC-89C2-D5F14E9CF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38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>
                <a:solidFill>
                  <a:srgbClr val="52627A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52627A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54c31abfc94f6a"/>
          <a:stretch xmlns:a="http://schemas.openxmlformats.org/drawingml/2006/main"/>
        </p:blipFill>
        <p:spPr>
          <a:xfrm xmlns:a="http://schemas.openxmlformats.org/drawingml/2006/main" flipH="0" flipV="0">
            <a:off x="1137170" y="1181100"/>
            <a:ext cx="9917661" cy="5581650"/>
          </a:xfrm>
          <a:prstGeom xmlns:a="http://schemas.openxmlformats.org/drawingml/2006/main" prst="roundRect">
            <a:avLst/>
          </a:prstGeom>
        </p:spPr>
      </p:pic>
    </p:spTree>
    <p:extLst>
      <p:ext uri="{BB962C8B-B14F-4D97-AF65-F5344CB8AC3E}">
        <p14:creationId xmlns:p14="http://schemas.microsoft.com/office/powerpoint/2010/main" val="70703703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-3">
            <a:extLst xmlns:a="http://schemas.openxmlformats.org/drawingml/2006/main">
              <a:ext uri="{FF2B5EF4-FFF2-40B4-BE49-F238E27FC236}">
                <a16:creationId xmlns:a16="http://schemas.microsoft.com/office/drawing/2014/main" id="{AB5C6069-2075-44F5-BDE0-8FF4F7693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57175"/>
            <a:ext cx="10763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Клиентскую базу можно загрузить за несколько минут</a:t>
            </a:r>
          </a:p>
        </p:txBody>
      </p:sp>
      <p:sp>
        <p:nvSpPr>
          <p:cNvPr id="2" name="subtitle-3">
            <a:extLst xmlns:a="http://schemas.openxmlformats.org/drawingml/2006/main">
              <a:ext uri="{FF2B5EF4-FFF2-40B4-BE49-F238E27FC236}">
                <a16:creationId xmlns:a16="http://schemas.microsoft.com/office/drawing/2014/main" id="{A7514AFE-246E-4509-BF3C-3C8FE3E6F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62000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52627A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52627A"/>
                </a:solidFill>
                <a:latin typeface="Arial"/>
                <a:ea typeface="Arial"/>
                <a:cs typeface="Arial"/>
              </a:rPr>
              <a:t>Excel-импорт и ручное добавление позволяют начать без сложной интеграции.</a:t>
            </a:r>
          </a:p>
        </p:txBody>
      </p:sp>
      <p:sp>
        <p:nvSpPr>
          <p:cNvPr id="3" name="screen-backing-3">
            <a:extLst xmlns:a="http://schemas.openxmlformats.org/drawingml/2006/main">
              <a:ext uri="{FF2B5EF4-FFF2-40B4-BE49-F238E27FC236}">
                <a16:creationId xmlns:a16="http://schemas.microsoft.com/office/drawing/2014/main" id="{A9364085-345F-43FE-BA62-45754436A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1171575"/>
            <a:ext cx="9963150" cy="5600700"/>
          </a:xfrm>
          <a:prstGeom xmlns:a="http://schemas.openxmlformats.org/drawingml/2006/main" prst="roundRect">
            <a:avLst>
              <a:gd name="adj" fmla="val 2041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page-3">
            <a:extLst xmlns:a="http://schemas.openxmlformats.org/drawingml/2006/main">
              <a:ext uri="{FF2B5EF4-FFF2-40B4-BE49-F238E27FC236}">
                <a16:creationId xmlns:a16="http://schemas.microsoft.com/office/drawing/2014/main" id="{B2510E4D-8467-4FA9-84B1-B97200968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38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>
                <a:solidFill>
                  <a:srgbClr val="52627A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52627A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0d1541e25842a0"/>
          <a:stretch xmlns:a="http://schemas.openxmlformats.org/drawingml/2006/main"/>
        </p:blipFill>
        <p:spPr>
          <a:xfrm xmlns:a="http://schemas.openxmlformats.org/drawingml/2006/main" flipH="0" flipV="0">
            <a:off x="1137170" y="1181100"/>
            <a:ext cx="9917661" cy="5581650"/>
          </a:xfrm>
          <a:prstGeom xmlns:a="http://schemas.openxmlformats.org/drawingml/2006/main" prst="roundRect">
            <a:avLst/>
          </a:prstGeom>
        </p:spPr>
      </p:pic>
    </p:spTree>
    <p:extLst>
      <p:ext uri="{BB962C8B-B14F-4D97-AF65-F5344CB8AC3E}">
        <p14:creationId xmlns:p14="http://schemas.microsoft.com/office/powerpoint/2010/main" val="196162825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-3">
            <a:extLst xmlns:a="http://schemas.openxmlformats.org/drawingml/2006/main">
              <a:ext uri="{FF2B5EF4-FFF2-40B4-BE49-F238E27FC236}">
                <a16:creationId xmlns:a16="http://schemas.microsoft.com/office/drawing/2014/main" id="{AB5C6069-2075-44F5-BDE0-8FF4F7693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57175"/>
            <a:ext cx="10763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Ошибки видны до сохранения данных</a:t>
            </a:r>
          </a:p>
        </p:txBody>
      </p:sp>
      <p:sp>
        <p:nvSpPr>
          <p:cNvPr id="2" name="subtitle-3">
            <a:extLst xmlns:a="http://schemas.openxmlformats.org/drawingml/2006/main">
              <a:ext uri="{FF2B5EF4-FFF2-40B4-BE49-F238E27FC236}">
                <a16:creationId xmlns:a16="http://schemas.microsoft.com/office/drawing/2014/main" id="{A7514AFE-246E-4509-BF3C-3C8FE3E6F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62000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52627A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52627A"/>
                </a:solidFill>
                <a:latin typeface="Arial"/>
                <a:ea typeface="Arial"/>
                <a:cs typeface="Arial"/>
              </a:rPr>
              <a:t>Предпросмотр отделяет корректные строки от тех, которые нужно исправить.</a:t>
            </a:r>
          </a:p>
        </p:txBody>
      </p:sp>
      <p:sp>
        <p:nvSpPr>
          <p:cNvPr id="3" name="screen-backing-3">
            <a:extLst xmlns:a="http://schemas.openxmlformats.org/drawingml/2006/main">
              <a:ext uri="{FF2B5EF4-FFF2-40B4-BE49-F238E27FC236}">
                <a16:creationId xmlns:a16="http://schemas.microsoft.com/office/drawing/2014/main" id="{A9364085-345F-43FE-BA62-45754436A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1171575"/>
            <a:ext cx="9963150" cy="5600700"/>
          </a:xfrm>
          <a:prstGeom xmlns:a="http://schemas.openxmlformats.org/drawingml/2006/main" prst="roundRect">
            <a:avLst>
              <a:gd name="adj" fmla="val 2041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page-3">
            <a:extLst xmlns:a="http://schemas.openxmlformats.org/drawingml/2006/main">
              <a:ext uri="{FF2B5EF4-FFF2-40B4-BE49-F238E27FC236}">
                <a16:creationId xmlns:a16="http://schemas.microsoft.com/office/drawing/2014/main" id="{B2510E4D-8467-4FA9-84B1-B97200968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38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>
                <a:solidFill>
                  <a:srgbClr val="52627A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52627A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aacd0f3f194a29"/>
          <a:stretch xmlns:a="http://schemas.openxmlformats.org/drawingml/2006/main"/>
        </p:blipFill>
        <p:spPr>
          <a:xfrm xmlns:a="http://schemas.openxmlformats.org/drawingml/2006/main" flipH="0" flipV="0">
            <a:off x="1137170" y="1181100"/>
            <a:ext cx="9917661" cy="5581650"/>
          </a:xfrm>
          <a:prstGeom xmlns:a="http://schemas.openxmlformats.org/drawingml/2006/main" prst="roundRect">
            <a:avLst/>
          </a:prstGeom>
        </p:spPr>
      </p:pic>
    </p:spTree>
    <p:extLst>
      <p:ext uri="{BB962C8B-B14F-4D97-AF65-F5344CB8AC3E}">
        <p14:creationId xmlns:p14="http://schemas.microsoft.com/office/powerpoint/2010/main" val="196162825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-3">
            <a:extLst xmlns:a="http://schemas.openxmlformats.org/drawingml/2006/main">
              <a:ext uri="{FF2B5EF4-FFF2-40B4-BE49-F238E27FC236}">
                <a16:creationId xmlns:a16="http://schemas.microsoft.com/office/drawing/2014/main" id="{AB5C6069-2075-44F5-BDE0-8FF4F7693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57175"/>
            <a:ext cx="10763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Пользователь подтверждает результат проверки</a:t>
            </a:r>
          </a:p>
        </p:txBody>
      </p:sp>
      <p:sp>
        <p:nvSpPr>
          <p:cNvPr id="2" name="subtitle-3">
            <a:extLst xmlns:a="http://schemas.openxmlformats.org/drawingml/2006/main">
              <a:ext uri="{FF2B5EF4-FFF2-40B4-BE49-F238E27FC236}">
                <a16:creationId xmlns:a16="http://schemas.microsoft.com/office/drawing/2014/main" id="{A7514AFE-246E-4509-BF3C-3C8FE3E6F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62000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52627A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52627A"/>
                </a:solidFill>
                <a:latin typeface="Arial"/>
                <a:ea typeface="Arial"/>
                <a:cs typeface="Arial"/>
              </a:rPr>
              <a:t>Перед записью в базу видно, сколько строк будет импортировано и сколько пропущено.</a:t>
            </a:r>
          </a:p>
        </p:txBody>
      </p:sp>
      <p:sp>
        <p:nvSpPr>
          <p:cNvPr id="3" name="screen-backing-3">
            <a:extLst xmlns:a="http://schemas.openxmlformats.org/drawingml/2006/main">
              <a:ext uri="{FF2B5EF4-FFF2-40B4-BE49-F238E27FC236}">
                <a16:creationId xmlns:a16="http://schemas.microsoft.com/office/drawing/2014/main" id="{A9364085-345F-43FE-BA62-45754436A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1171575"/>
            <a:ext cx="9963150" cy="5600700"/>
          </a:xfrm>
          <a:prstGeom xmlns:a="http://schemas.openxmlformats.org/drawingml/2006/main" prst="roundRect">
            <a:avLst>
              <a:gd name="adj" fmla="val 2041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page-3">
            <a:extLst xmlns:a="http://schemas.openxmlformats.org/drawingml/2006/main">
              <a:ext uri="{FF2B5EF4-FFF2-40B4-BE49-F238E27FC236}">
                <a16:creationId xmlns:a16="http://schemas.microsoft.com/office/drawing/2014/main" id="{B2510E4D-8467-4FA9-84B1-B97200968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38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>
                <a:solidFill>
                  <a:srgbClr val="52627A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52627A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593a6209b742f8"/>
          <a:stretch xmlns:a="http://schemas.openxmlformats.org/drawingml/2006/main"/>
        </p:blipFill>
        <p:spPr>
          <a:xfrm xmlns:a="http://schemas.openxmlformats.org/drawingml/2006/main" flipH="0" flipV="0">
            <a:off x="1137170" y="1181100"/>
            <a:ext cx="9917661" cy="5581650"/>
          </a:xfrm>
          <a:prstGeom xmlns:a="http://schemas.openxmlformats.org/drawingml/2006/main" prst="roundRect">
            <a:avLst/>
          </a:prstGeom>
        </p:spPr>
      </p:pic>
    </p:spTree>
    <p:extLst>
      <p:ext uri="{BB962C8B-B14F-4D97-AF65-F5344CB8AC3E}">
        <p14:creationId xmlns:p14="http://schemas.microsoft.com/office/powerpoint/2010/main" val="196162825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-3">
            <a:extLst xmlns:a="http://schemas.openxmlformats.org/drawingml/2006/main">
              <a:ext uri="{FF2B5EF4-FFF2-40B4-BE49-F238E27FC236}">
                <a16:creationId xmlns:a16="http://schemas.microsoft.com/office/drawing/2014/main" id="{AB5C6069-2075-44F5-BDE0-8FF4F7693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57175"/>
            <a:ext cx="10763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Импорт завершается понятным результатом</a:t>
            </a:r>
          </a:p>
        </p:txBody>
      </p:sp>
      <p:sp>
        <p:nvSpPr>
          <p:cNvPr id="2" name="subtitle-3">
            <a:extLst xmlns:a="http://schemas.openxmlformats.org/drawingml/2006/main">
              <a:ext uri="{FF2B5EF4-FFF2-40B4-BE49-F238E27FC236}">
                <a16:creationId xmlns:a16="http://schemas.microsoft.com/office/drawing/2014/main" id="{A7514AFE-246E-4509-BF3C-3C8FE3E6F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62000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52627A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52627A"/>
                </a:solidFill>
                <a:latin typeface="Arial"/>
                <a:ea typeface="Arial"/>
                <a:cs typeface="Arial"/>
              </a:rPr>
              <a:t>Система показывает созданных и обновлённых клиентов, оборудование и пропущенные строки.</a:t>
            </a:r>
          </a:p>
        </p:txBody>
      </p:sp>
      <p:sp>
        <p:nvSpPr>
          <p:cNvPr id="3" name="screen-backing-3">
            <a:extLst xmlns:a="http://schemas.openxmlformats.org/drawingml/2006/main">
              <a:ext uri="{FF2B5EF4-FFF2-40B4-BE49-F238E27FC236}">
                <a16:creationId xmlns:a16="http://schemas.microsoft.com/office/drawing/2014/main" id="{A9364085-345F-43FE-BA62-45754436A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1171575"/>
            <a:ext cx="9963150" cy="5600700"/>
          </a:xfrm>
          <a:prstGeom xmlns:a="http://schemas.openxmlformats.org/drawingml/2006/main" prst="roundRect">
            <a:avLst>
              <a:gd name="adj" fmla="val 2041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page-3">
            <a:extLst xmlns:a="http://schemas.openxmlformats.org/drawingml/2006/main">
              <a:ext uri="{FF2B5EF4-FFF2-40B4-BE49-F238E27FC236}">
                <a16:creationId xmlns:a16="http://schemas.microsoft.com/office/drawing/2014/main" id="{B2510E4D-8467-4FA9-84B1-B97200968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38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>
                <a:solidFill>
                  <a:srgbClr val="52627A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52627A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f0274e9aa04f36"/>
          <a:stretch xmlns:a="http://schemas.openxmlformats.org/drawingml/2006/main"/>
        </p:blipFill>
        <p:spPr>
          <a:xfrm xmlns:a="http://schemas.openxmlformats.org/drawingml/2006/main" flipH="0" flipV="0">
            <a:off x="1137170" y="1181100"/>
            <a:ext cx="9917661" cy="5581650"/>
          </a:xfrm>
          <a:prstGeom xmlns:a="http://schemas.openxmlformats.org/drawingml/2006/main" prst="roundRect">
            <a:avLst/>
          </a:prstGeom>
        </p:spPr>
      </p:pic>
    </p:spTree>
    <p:extLst>
      <p:ext uri="{BB962C8B-B14F-4D97-AF65-F5344CB8AC3E}">
        <p14:creationId xmlns:p14="http://schemas.microsoft.com/office/powerpoint/2010/main" val="196162825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-3">
            <a:extLst xmlns:a="http://schemas.openxmlformats.org/drawingml/2006/main">
              <a:ext uri="{FF2B5EF4-FFF2-40B4-BE49-F238E27FC236}">
                <a16:creationId xmlns:a16="http://schemas.microsoft.com/office/drawing/2014/main" id="{AB5C6069-2075-44F5-BDE0-8FF4F7693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57175"/>
            <a:ext cx="10763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Клиент и оборудование связаны одной историей</a:t>
            </a:r>
          </a:p>
        </p:txBody>
      </p:sp>
      <p:sp>
        <p:nvSpPr>
          <p:cNvPr id="2" name="subtitle-3">
            <a:extLst xmlns:a="http://schemas.openxmlformats.org/drawingml/2006/main">
              <a:ext uri="{FF2B5EF4-FFF2-40B4-BE49-F238E27FC236}">
                <a16:creationId xmlns:a16="http://schemas.microsoft.com/office/drawing/2014/main" id="{A7514AFE-246E-4509-BF3C-3C8FE3E6F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62000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52627A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52627A"/>
                </a:solidFill>
                <a:latin typeface="Arial"/>
                <a:ea typeface="Arial"/>
                <a:cs typeface="Arial"/>
              </a:rPr>
              <a:t>База хранит объект обслуживания, периодичность, даты и все выполненные работы.</a:t>
            </a:r>
          </a:p>
        </p:txBody>
      </p:sp>
      <p:sp>
        <p:nvSpPr>
          <p:cNvPr id="3" name="screen-backing-3">
            <a:extLst xmlns:a="http://schemas.openxmlformats.org/drawingml/2006/main">
              <a:ext uri="{FF2B5EF4-FFF2-40B4-BE49-F238E27FC236}">
                <a16:creationId xmlns:a16="http://schemas.microsoft.com/office/drawing/2014/main" id="{A9364085-345F-43FE-BA62-45754436A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1171575"/>
            <a:ext cx="9963150" cy="5600700"/>
          </a:xfrm>
          <a:prstGeom xmlns:a="http://schemas.openxmlformats.org/drawingml/2006/main" prst="roundRect">
            <a:avLst>
              <a:gd name="adj" fmla="val 2041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d97c8d20ef4561"/>
          <a:stretch xmlns:a="http://schemas.openxmlformats.org/drawingml/2006/main"/>
        </p:blipFill>
        <p:spPr>
          <a:xfrm xmlns:a="http://schemas.openxmlformats.org/drawingml/2006/main">
            <a:off x="1137170" y="1181100"/>
            <a:ext cx="9917661" cy="5581650"/>
          </a:xfrm>
          <a:prstGeom xmlns:a="http://schemas.openxmlformats.org/drawingml/2006/main" prst="roundRect">
            <a:avLst>
              <a:gd name="adj" fmla="val 2048"/>
            </a:avLst>
          </a:prstGeom>
        </p:spPr>
      </p:pic>
      <p:sp>
        <p:nvSpPr>
          <p:cNvPr id="5" name="page-3">
            <a:extLst xmlns:a="http://schemas.openxmlformats.org/drawingml/2006/main">
              <a:ext uri="{FF2B5EF4-FFF2-40B4-BE49-F238E27FC236}">
                <a16:creationId xmlns:a16="http://schemas.microsoft.com/office/drawing/2014/main" id="{B2510E4D-8467-4FA9-84B1-B97200968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38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>
                <a:solidFill>
                  <a:srgbClr val="52627A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52627A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96162825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-4">
            <a:extLst xmlns:a="http://schemas.openxmlformats.org/drawingml/2006/main">
              <a:ext uri="{FF2B5EF4-FFF2-40B4-BE49-F238E27FC236}">
                <a16:creationId xmlns:a16="http://schemas.microsoft.com/office/drawing/2014/main" id="{FDC8FECD-5FDE-482C-9A7F-42B44AEC4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57175"/>
            <a:ext cx="10763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Сервисный цикл настраивается один раз</a:t>
            </a:r>
          </a:p>
        </p:txBody>
      </p:sp>
      <p:sp>
        <p:nvSpPr>
          <p:cNvPr id="2" name="subtitle-4">
            <a:extLst xmlns:a="http://schemas.openxmlformats.org/drawingml/2006/main">
              <a:ext uri="{FF2B5EF4-FFF2-40B4-BE49-F238E27FC236}">
                <a16:creationId xmlns:a16="http://schemas.microsoft.com/office/drawing/2014/main" id="{B63CF1FE-719F-4CC0-BBF1-3D5FDEC24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62000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52627A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52627A"/>
                </a:solidFill>
                <a:latin typeface="Arial"/>
                <a:ea typeface="Arial"/>
                <a:cs typeface="Arial"/>
              </a:rPr>
              <a:t>Периодичность, канал и сценарий уведомлений определяют дальнейшие действия системы.</a:t>
            </a:r>
          </a:p>
        </p:txBody>
      </p:sp>
      <p:sp>
        <p:nvSpPr>
          <p:cNvPr id="3" name="screen-backing-4">
            <a:extLst xmlns:a="http://schemas.openxmlformats.org/drawingml/2006/main">
              <a:ext uri="{FF2B5EF4-FFF2-40B4-BE49-F238E27FC236}">
                <a16:creationId xmlns:a16="http://schemas.microsoft.com/office/drawing/2014/main" id="{033F0AC0-F49D-4123-B4A0-BDAEBC145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1171575"/>
            <a:ext cx="9963150" cy="5600700"/>
          </a:xfrm>
          <a:prstGeom xmlns:a="http://schemas.openxmlformats.org/drawingml/2006/main" prst="roundRect">
            <a:avLst>
              <a:gd name="adj" fmla="val 2041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page-4">
            <a:extLst xmlns:a="http://schemas.openxmlformats.org/drawingml/2006/main">
              <a:ext uri="{FF2B5EF4-FFF2-40B4-BE49-F238E27FC236}">
                <a16:creationId xmlns:a16="http://schemas.microsoft.com/office/drawing/2014/main" id="{5EFFEF17-206E-4D30-A9E3-EEBDFB1A6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38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>
                <a:solidFill>
                  <a:srgbClr val="52627A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52627A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9e6094276d45a8"/>
          <a:stretch xmlns:a="http://schemas.openxmlformats.org/drawingml/2006/main"/>
        </p:blipFill>
        <p:spPr>
          <a:xfrm xmlns:a="http://schemas.openxmlformats.org/drawingml/2006/main" flipH="0" flipV="0">
            <a:off x="1137170" y="1181100"/>
            <a:ext cx="9917661" cy="5581650"/>
          </a:xfrm>
          <a:prstGeom xmlns:a="http://schemas.openxmlformats.org/drawingml/2006/main" prst="roundRect">
            <a:avLst/>
          </a:prstGeom>
        </p:spPr>
      </p:pic>
    </p:spTree>
    <p:extLst>
      <p:ext uri="{BB962C8B-B14F-4D97-AF65-F5344CB8AC3E}">
        <p14:creationId xmlns:p14="http://schemas.microsoft.com/office/powerpoint/2010/main" val="164483135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-4">
            <a:extLst xmlns:a="http://schemas.openxmlformats.org/drawingml/2006/main">
              <a:ext uri="{FF2B5EF4-FFF2-40B4-BE49-F238E27FC236}">
                <a16:creationId xmlns:a16="http://schemas.microsoft.com/office/drawing/2014/main" id="{FDC8FECD-5FDE-482C-9A7F-42B44AEC4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57175"/>
            <a:ext cx="10763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Ответ клиента превращается в задачу сотруднику</a:t>
            </a:r>
          </a:p>
        </p:txBody>
      </p:sp>
      <p:sp>
        <p:nvSpPr>
          <p:cNvPr id="2" name="subtitle-4">
            <a:extLst xmlns:a="http://schemas.openxmlformats.org/drawingml/2006/main">
              <a:ext uri="{FF2B5EF4-FFF2-40B4-BE49-F238E27FC236}">
                <a16:creationId xmlns:a16="http://schemas.microsoft.com/office/drawing/2014/main" id="{B63CF1FE-719F-4CC0-BBF1-3D5FDEC24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62000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52627A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52627A"/>
                </a:solidFill>
                <a:latin typeface="Arial"/>
                <a:ea typeface="Arial"/>
                <a:cs typeface="Arial"/>
              </a:rPr>
              <a:t>Уведомление → статус клиента → звонок → зафиксированный результат.</a:t>
            </a:r>
          </a:p>
        </p:txBody>
      </p:sp>
      <p:sp>
        <p:nvSpPr>
          <p:cNvPr id="3" name="screen-backing-4">
            <a:extLst xmlns:a="http://schemas.openxmlformats.org/drawingml/2006/main">
              <a:ext uri="{FF2B5EF4-FFF2-40B4-BE49-F238E27FC236}">
                <a16:creationId xmlns:a16="http://schemas.microsoft.com/office/drawing/2014/main" id="{033F0AC0-F49D-4123-B4A0-BDAEBC145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1171575"/>
            <a:ext cx="9963150" cy="5600700"/>
          </a:xfrm>
          <a:prstGeom xmlns:a="http://schemas.openxmlformats.org/drawingml/2006/main" prst="roundRect">
            <a:avLst>
              <a:gd name="adj" fmla="val 2041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page-4">
            <a:extLst xmlns:a="http://schemas.openxmlformats.org/drawingml/2006/main">
              <a:ext uri="{FF2B5EF4-FFF2-40B4-BE49-F238E27FC236}">
                <a16:creationId xmlns:a16="http://schemas.microsoft.com/office/drawing/2014/main" id="{5EFFEF17-206E-4D30-A9E3-EEBDFB1A6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38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>
                <a:solidFill>
                  <a:srgbClr val="52627A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52627A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08aacd120a4658"/>
          <a:stretch xmlns:a="http://schemas.openxmlformats.org/drawingml/2006/main"/>
        </p:blipFill>
        <p:spPr>
          <a:xfrm xmlns:a="http://schemas.openxmlformats.org/drawingml/2006/main" flipH="0" flipV="0">
            <a:off x="1137170" y="1181100"/>
            <a:ext cx="9917661" cy="5581650"/>
          </a:xfrm>
          <a:prstGeom xmlns:a="http://schemas.openxmlformats.org/drawingml/2006/main" prst="roundRect">
            <a:avLst/>
          </a:prstGeom>
        </p:spPr>
      </p:pic>
    </p:spTree>
    <p:extLst>
      <p:ext uri="{BB962C8B-B14F-4D97-AF65-F5344CB8AC3E}">
        <p14:creationId xmlns:p14="http://schemas.microsoft.com/office/powerpoint/2010/main" val="164483135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-5">
            <a:extLst xmlns:a="http://schemas.openxmlformats.org/drawingml/2006/main">
              <a:ext uri="{FF2B5EF4-FFF2-40B4-BE49-F238E27FC236}">
                <a16:creationId xmlns:a16="http://schemas.microsoft.com/office/drawing/2014/main" id="{E68F578F-E40F-461E-9D5E-BA4F84A1A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57175"/>
            <a:ext cx="10763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Клиент отвечает без регистрации и приложения</a:t>
            </a:r>
          </a:p>
        </p:txBody>
      </p:sp>
      <p:sp>
        <p:nvSpPr>
          <p:cNvPr id="2" name="subtitle-5">
            <a:extLst xmlns:a="http://schemas.openxmlformats.org/drawingml/2006/main">
              <a:ext uri="{FF2B5EF4-FFF2-40B4-BE49-F238E27FC236}">
                <a16:creationId xmlns:a16="http://schemas.microsoft.com/office/drawing/2014/main" id="{E05AB6BC-7DA8-499D-B2CC-093DFA41C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62000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52627A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52627A"/>
                </a:solidFill>
                <a:latin typeface="Arial"/>
                <a:ea typeface="Arial"/>
                <a:cs typeface="Arial"/>
              </a:rPr>
              <a:t>SMS или Telegram ведут на персональную страницу: записаться, отложить или отказаться.</a:t>
            </a:r>
          </a:p>
        </p:txBody>
      </p:sp>
      <p:sp>
        <p:nvSpPr>
          <p:cNvPr id="3" name="screen-backing-5">
            <a:extLst xmlns:a="http://schemas.openxmlformats.org/drawingml/2006/main">
              <a:ext uri="{FF2B5EF4-FFF2-40B4-BE49-F238E27FC236}">
                <a16:creationId xmlns:a16="http://schemas.microsoft.com/office/drawing/2014/main" id="{31A05A67-F6DF-4F33-8F0E-ADF169502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1171575"/>
            <a:ext cx="9963150" cy="5600700"/>
          </a:xfrm>
          <a:prstGeom xmlns:a="http://schemas.openxmlformats.org/drawingml/2006/main" prst="roundRect">
            <a:avLst>
              <a:gd name="adj" fmla="val 2041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d0305237e943e7"/>
          <a:stretch xmlns:a="http://schemas.openxmlformats.org/drawingml/2006/main"/>
        </p:blipFill>
        <p:spPr>
          <a:xfrm xmlns:a="http://schemas.openxmlformats.org/drawingml/2006/main">
            <a:off x="1137170" y="1181100"/>
            <a:ext cx="9917661" cy="5581650"/>
          </a:xfrm>
          <a:prstGeom xmlns:a="http://schemas.openxmlformats.org/drawingml/2006/main" prst="roundRect">
            <a:avLst>
              <a:gd name="adj" fmla="val 2048"/>
            </a:avLst>
          </a:prstGeom>
        </p:spPr>
      </p:pic>
      <p:sp>
        <p:nvSpPr>
          <p:cNvPr id="5" name="page-5">
            <a:extLst xmlns:a="http://schemas.openxmlformats.org/drawingml/2006/main">
              <a:ext uri="{FF2B5EF4-FFF2-40B4-BE49-F238E27FC236}">
                <a16:creationId xmlns:a16="http://schemas.microsoft.com/office/drawing/2014/main" id="{CFF17759-16A2-408F-966C-373872255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38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>
                <a:solidFill>
                  <a:srgbClr val="52627A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52627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41451804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-2">
            <a:extLst xmlns:a="http://schemas.openxmlformats.org/drawingml/2006/main">
              <a:ext uri="{FF2B5EF4-FFF2-40B4-BE49-F238E27FC236}">
                <a16:creationId xmlns:a16="http://schemas.microsoft.com/office/drawing/2014/main" id="{99DB2D4F-ED6E-44B7-93B8-3702EB42E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57175"/>
            <a:ext cx="10763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Руководитель сразу видит результат</a:t>
            </a:r>
          </a:p>
        </p:txBody>
      </p:sp>
      <p:sp>
        <p:nvSpPr>
          <p:cNvPr id="2" name="subtitle-2">
            <a:extLst xmlns:a="http://schemas.openxmlformats.org/drawingml/2006/main">
              <a:ext uri="{FF2B5EF4-FFF2-40B4-BE49-F238E27FC236}">
                <a16:creationId xmlns:a16="http://schemas.microsoft.com/office/drawing/2014/main" id="{6A97B35D-2D99-46FD-BC9B-9DA9C8CAE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62000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52627A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52627A"/>
                </a:solidFill>
                <a:latin typeface="Arial"/>
                <a:ea typeface="Arial"/>
                <a:cs typeface="Arial"/>
              </a:rPr>
              <a:t>Просрочки, заявки после напоминаний и возвращённая выручка — на одном экране.</a:t>
            </a:r>
          </a:p>
        </p:txBody>
      </p:sp>
      <p:sp>
        <p:nvSpPr>
          <p:cNvPr id="3" name="screen-backing-2">
            <a:extLst xmlns:a="http://schemas.openxmlformats.org/drawingml/2006/main">
              <a:ext uri="{FF2B5EF4-FFF2-40B4-BE49-F238E27FC236}">
                <a16:creationId xmlns:a16="http://schemas.microsoft.com/office/drawing/2014/main" id="{2B0B11CF-F032-4C3F-BA1A-1C1E68EC9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1171575"/>
            <a:ext cx="9963150" cy="5600700"/>
          </a:xfrm>
          <a:prstGeom xmlns:a="http://schemas.openxmlformats.org/drawingml/2006/main" prst="roundRect">
            <a:avLst>
              <a:gd name="adj" fmla="val 2041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902db5afa04313"/>
          <a:stretch xmlns:a="http://schemas.openxmlformats.org/drawingml/2006/main"/>
        </p:blipFill>
        <p:spPr>
          <a:xfrm xmlns:a="http://schemas.openxmlformats.org/drawingml/2006/main">
            <a:off x="1137170" y="1181100"/>
            <a:ext cx="9917661" cy="5581650"/>
          </a:xfrm>
          <a:prstGeom xmlns:a="http://schemas.openxmlformats.org/drawingml/2006/main" prst="roundRect">
            <a:avLst>
              <a:gd name="adj" fmla="val 2048"/>
            </a:avLst>
          </a:prstGeom>
        </p:spPr>
      </p:pic>
      <p:sp>
        <p:nvSpPr>
          <p:cNvPr id="5" name="page-2">
            <a:extLst xmlns:a="http://schemas.openxmlformats.org/drawingml/2006/main">
              <a:ext uri="{FF2B5EF4-FFF2-40B4-BE49-F238E27FC236}">
                <a16:creationId xmlns:a16="http://schemas.microsoft.com/office/drawing/2014/main" id="{63CE3BFB-7C56-4ECC-89C2-D5F14E9CF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38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>
                <a:solidFill>
                  <a:srgbClr val="52627A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52627A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70703703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2026-08-27T13:44:32.7620000Z</dcterms:created>
  <dcterms:modified xsi:type="dcterms:W3CDTF">2026-08-27T13:44:32.7620000Z</dcterms:modified>
</coreProperties>
</file>