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a0cfbf3f0774adf" /><Relationship Type="http://schemas.openxmlformats.org/officeDocument/2006/relationships/extended-properties" Target="/docProps/app.xml" Id="R9e1f668e4d6a4046" /><Relationship Type="http://schemas.openxmlformats.org/officeDocument/2006/relationships/officeDocument" Target="/ppt/presentation.xml" Id="Raa4846dbaf09438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8370bb19b444923"/>
  </p:sldMasterIdLst>
  <p:notesMasterIdLst>
    <p:notesMasterId xmlns:r="http://schemas.openxmlformats.org/officeDocument/2006/relationships" r:id="R959597f3b7a94c2d"/>
  </p:notesMasterIdLst>
  <p:sldIdLst>
    <p:sldId xmlns:r="http://schemas.openxmlformats.org/officeDocument/2006/relationships" id="256" r:id="Rbd5932bbe6374c71"/>
    <p:sldId xmlns:r="http://schemas.openxmlformats.org/officeDocument/2006/relationships" id="257" r:id="R8ee326629648426a"/>
    <p:sldId xmlns:r="http://schemas.openxmlformats.org/officeDocument/2006/relationships" id="258" r:id="R2a070da2ebcf4735"/>
    <p:sldId xmlns:r="http://schemas.openxmlformats.org/officeDocument/2006/relationships" id="259" r:id="Rde59367f247840a4"/>
    <p:sldId xmlns:r="http://schemas.openxmlformats.org/officeDocument/2006/relationships" id="260" r:id="Rdaad710476ff4473"/>
    <p:sldId xmlns:r="http://schemas.openxmlformats.org/officeDocument/2006/relationships" id="261" r:id="R2c8bdcffed244722"/>
    <p:sldId xmlns:r="http://schemas.openxmlformats.org/officeDocument/2006/relationships" id="262" r:id="R68ecae3478de4e63"/>
    <p:sldId xmlns:r="http://schemas.openxmlformats.org/officeDocument/2006/relationships" id="263" r:id="R5b0c572b95174b32"/>
    <p:sldId xmlns:r="http://schemas.openxmlformats.org/officeDocument/2006/relationships" id="264" r:id="R0260dd22e08e4711"/>
    <p:sldId xmlns:r="http://schemas.openxmlformats.org/officeDocument/2006/relationships" id="265" r:id="Rd6bc9de870cf41d8"/>
    <p:sldId xmlns:r="http://schemas.openxmlformats.org/officeDocument/2006/relationships" id="266" r:id="R2e50b94847b6456f"/>
    <p:sldId xmlns:r="http://schemas.openxmlformats.org/officeDocument/2006/relationships" id="267" r:id="R738e33a5503243e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b6fea149a9e4c1b" /><Relationship Type="http://schemas.openxmlformats.org/officeDocument/2006/relationships/slideMaster" Target="/ppt/slideMasters/slideMaster1.xml" Id="Rb8370bb19b444923" /><Relationship Type="http://schemas.openxmlformats.org/officeDocument/2006/relationships/notesMaster" Target="/ppt/notesMasters/notesMaster1.xml" Id="R959597f3b7a94c2d" /><Relationship Type="http://schemas.openxmlformats.org/officeDocument/2006/relationships/presProps" Target="/ppt/presProps.xml" Id="Recc3ea3052be4e0c" /><Relationship Type="http://schemas.openxmlformats.org/officeDocument/2006/relationships/tableStyles" Target="/ppt/tableStyles.xml" Id="Rd29f0fa96e6f4980" /><Relationship Type="http://schemas.openxmlformats.org/officeDocument/2006/relationships/slide" Target="/ppt/slides/slide1.xml" Id="Rbd5932bbe6374c71" /><Relationship Type="http://schemas.openxmlformats.org/officeDocument/2006/relationships/slide" Target="/ppt/slides/slide2.xml" Id="R8ee326629648426a" /><Relationship Type="http://schemas.openxmlformats.org/officeDocument/2006/relationships/slide" Target="/ppt/slides/slide3.xml" Id="R2a070da2ebcf4735" /><Relationship Type="http://schemas.openxmlformats.org/officeDocument/2006/relationships/slide" Target="/ppt/slides/slide4.xml" Id="Rde59367f247840a4" /><Relationship Type="http://schemas.openxmlformats.org/officeDocument/2006/relationships/slide" Target="/ppt/slides/slide5.xml" Id="Rdaad710476ff4473" /><Relationship Type="http://schemas.openxmlformats.org/officeDocument/2006/relationships/slide" Target="/ppt/slides/slide6.xml" Id="R2c8bdcffed244722" /><Relationship Type="http://schemas.openxmlformats.org/officeDocument/2006/relationships/slide" Target="/ppt/slides/slide7.xml" Id="R68ecae3478de4e63" /><Relationship Type="http://schemas.openxmlformats.org/officeDocument/2006/relationships/slide" Target="/ppt/slides/slide8.xml" Id="R5b0c572b95174b32" /><Relationship Type="http://schemas.openxmlformats.org/officeDocument/2006/relationships/slide" Target="/ppt/slides/slide9.xml" Id="R0260dd22e08e4711" /><Relationship Type="http://schemas.openxmlformats.org/officeDocument/2006/relationships/slide" Target="/ppt/slides/slide10.xml" Id="Rd6bc9de870cf41d8" /><Relationship Type="http://schemas.openxmlformats.org/officeDocument/2006/relationships/slide" Target="/ppt/slides/slide11.xml" Id="R2e50b94847b6456f" /><Relationship Type="http://schemas.openxmlformats.org/officeDocument/2006/relationships/slide" Target="/ppt/slides/slide12.xml" Id="R738e33a5503243e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90ad7da216745e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7f31283efad4b3b" /><Relationship Type="http://schemas.openxmlformats.org/officeDocument/2006/relationships/notesMaster" Target="/ppt/notesMasters/notesMaster1.xml" Id="R1b3928f6e6ea42e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895ec91f5c84c5a" /><Relationship Type="http://schemas.openxmlformats.org/officeDocument/2006/relationships/notesMaster" Target="/ppt/notesMasters/notesMaster1.xml" Id="R6851d036ae21438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d6fbce92fc04ab0" /><Relationship Type="http://schemas.openxmlformats.org/officeDocument/2006/relationships/notesMaster" Target="/ppt/notesMasters/notesMaster1.xml" Id="R796dcfdf20f64ed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5b5940881704bc4" /><Relationship Type="http://schemas.openxmlformats.org/officeDocument/2006/relationships/notesMaster" Target="/ppt/notesMasters/notesMaster1.xml" Id="R184250c0fe464bd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bb54ee9726e4af0" /><Relationship Type="http://schemas.openxmlformats.org/officeDocument/2006/relationships/notesMaster" Target="/ppt/notesMasters/notesMaster1.xml" Id="Re7ee31b1ff54465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ec7cadb0e714971" /><Relationship Type="http://schemas.openxmlformats.org/officeDocument/2006/relationships/notesMaster" Target="/ppt/notesMasters/notesMaster1.xml" Id="R4ec627496d3640d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5d580cfc1d54ff5" /><Relationship Type="http://schemas.openxmlformats.org/officeDocument/2006/relationships/notesMaster" Target="/ppt/notesMasters/notesMaster1.xml" Id="Rc0bec6df77ad431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ec2eeb955c04c3b" /><Relationship Type="http://schemas.openxmlformats.org/officeDocument/2006/relationships/notesMaster" Target="/ppt/notesMasters/notesMaster1.xml" Id="Rb3db0bf19c6841d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bde565099e84d5c" /><Relationship Type="http://schemas.openxmlformats.org/officeDocument/2006/relationships/notesMaster" Target="/ppt/notesMasters/notesMaster1.xml" Id="Rdd651b76a1904e4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c95f4a280214590" /><Relationship Type="http://schemas.openxmlformats.org/officeDocument/2006/relationships/notesMaster" Target="/ppt/notesMasters/notesMaster1.xml" Id="Re4ca2f3832ef458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069b0f3d45e41f5" /><Relationship Type="http://schemas.openxmlformats.org/officeDocument/2006/relationships/notesMaster" Target="/ppt/notesMasters/notesMaster1.xml" Id="R81ed78ca61aa481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700b4e61acd4287" /><Relationship Type="http://schemas.openxmlformats.org/officeDocument/2006/relationships/notesMaster" Target="/ppt/notesMasters/notesMaster1.xml" Id="Rdb7d4144b7244ca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Product concept based on the startup discussion with the user; no external claims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AI-generated interface concept created specifically for this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AI-generated interface concept created specifically for this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AI-generated interface concept created specifically for this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AI-generated interface concept created specifically for this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AI-generated interface concept created specifically for this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AI-generated interface concept created specifically for this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AI-generated interface concept created specifically for this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AI-generated interface concept created specifically for this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AI-generated interface concept created specifically for this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AI-generated interface concept created specifically for this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AI-generated interface concept created specifically for this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f992a51c4f41b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efef7f6be21490f" /><Relationship Type="http://schemas.openxmlformats.org/officeDocument/2006/relationships/slideLayout" Target="/ppt/slideLayouts/slideLayout1.xml" Id="R9e0ada9f9fed4ea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e0ada9f9fed4ea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cfe577e6cc44c7" /><Relationship Type="http://schemas.openxmlformats.org/officeDocument/2006/relationships/notesSlide" Target="/ppt/notesSlides/notesSlide1.xml" Id="R6fafeec0f35a493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e4e1da181e42d4" /><Relationship Type="http://schemas.openxmlformats.org/officeDocument/2006/relationships/image" Target="/ppt/media/image.png" Id="R6ef1f3b812074643" /><Relationship Type="http://schemas.openxmlformats.org/officeDocument/2006/relationships/notesSlide" Target="/ppt/notesSlides/notesSlide2.xml" Id="R507278c627d14ed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85943821fc4b31" /><Relationship Type="http://schemas.openxmlformats.org/officeDocument/2006/relationships/image" Target="/ppt/media/image2.png" Id="R48e3c878d5be4d41" /><Relationship Type="http://schemas.openxmlformats.org/officeDocument/2006/relationships/notesSlide" Target="/ppt/notesSlides/notesSlide3.xml" Id="Rd3b69a0415f7414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7e70f1974f47ca" /><Relationship Type="http://schemas.openxmlformats.org/officeDocument/2006/relationships/image" Target="/ppt/media/image3.png" Id="R508b8a1d3d1f4d6c" /><Relationship Type="http://schemas.openxmlformats.org/officeDocument/2006/relationships/notesSlide" Target="/ppt/notesSlides/notesSlide4.xml" Id="R0139dc46ca474ea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b4dc5b7b534cc8" /><Relationship Type="http://schemas.openxmlformats.org/officeDocument/2006/relationships/image" Target="/ppt/media/image4.png" Id="R4564fdd2b9fb48c7" /><Relationship Type="http://schemas.openxmlformats.org/officeDocument/2006/relationships/notesSlide" Target="/ppt/notesSlides/notesSlide5.xml" Id="R2ef80cee4972454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8047280a7b4616" /><Relationship Type="http://schemas.openxmlformats.org/officeDocument/2006/relationships/image" Target="/ppt/media/image5.png" Id="R79fb847f91774b80" /><Relationship Type="http://schemas.openxmlformats.org/officeDocument/2006/relationships/notesSlide" Target="/ppt/notesSlides/notesSlide6.xml" Id="R0a4ece3595da454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da3eeeaaa845ad" /><Relationship Type="http://schemas.openxmlformats.org/officeDocument/2006/relationships/image" Target="/ppt/media/image6.png" Id="Re392e36a70364251" /><Relationship Type="http://schemas.openxmlformats.org/officeDocument/2006/relationships/notesSlide" Target="/ppt/notesSlides/notesSlide7.xml" Id="R2524af44ccb44be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2295886ff047e5" /><Relationship Type="http://schemas.openxmlformats.org/officeDocument/2006/relationships/image" Target="/ppt/media/image7.png" Id="R52cf80220c54429c" /><Relationship Type="http://schemas.openxmlformats.org/officeDocument/2006/relationships/notesSlide" Target="/ppt/notesSlides/notesSlide8.xml" Id="Red717f2eb0084d2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5fa6ce4d9a4dc4" /><Relationship Type="http://schemas.openxmlformats.org/officeDocument/2006/relationships/image" Target="/ppt/media/image8.png" Id="R2f9b16cba1464a5b" /><Relationship Type="http://schemas.openxmlformats.org/officeDocument/2006/relationships/notesSlide" Target="/ppt/notesSlides/notesSlide9.xml" Id="Rfa84a8b26800475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913a0ff4e24608" /><Relationship Type="http://schemas.openxmlformats.org/officeDocument/2006/relationships/image" Target="/ppt/media/image9.png" Id="R8d015df893ac4bc3" /><Relationship Type="http://schemas.openxmlformats.org/officeDocument/2006/relationships/notesSlide" Target="/ppt/notesSlides/notesSlide10.xml" Id="R52fefaff2db1466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6e834be8e44368" /><Relationship Type="http://schemas.openxmlformats.org/officeDocument/2006/relationships/image" Target="/ppt/media/image10.png" Id="R3f661837f6dc4084" /><Relationship Type="http://schemas.openxmlformats.org/officeDocument/2006/relationships/notesSlide" Target="/ppt/notesSlides/notesSlide11.xml" Id="R121d4d699fa74e4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cd7e7a2519412d" /><Relationship Type="http://schemas.openxmlformats.org/officeDocument/2006/relationships/image" Target="/ppt/media/image11.png" Id="R8897e526af5d4874" /><Relationship Type="http://schemas.openxmlformats.org/officeDocument/2006/relationships/notesSlide" Target="/ppt/notesSlides/notesSlide12.xml" Id="R79f4c07a36a6453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E98F7EBF-68BF-43F7-BFC3-380D8CC3C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484F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84F5"/>
                </a:solidFill>
                <a:latin typeface="Arial"/>
                <a:ea typeface="Arial"/>
                <a:cs typeface="Arial"/>
              </a:rPr>
              <a:t>КОНЦЕПТ B2B-ПРОДУКТА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3637477D-A92E-4166-AA5D-D2975485E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809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6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0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Сервисный</a:t>
            </a:r>
          </a:p>
          <a:p xmlns:a="http://schemas.openxmlformats.org/drawingml/2006/main">
            <a:pPr>
              <a:buNone/>
              <a:defRPr sz="6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60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цикл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7BD0152C-6EEC-45AB-9A57-2CA32A03B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76750"/>
            <a:ext cx="7524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>
                <a:solidFill>
                  <a:srgbClr val="071B44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071B44"/>
                </a:solidFill>
                <a:latin typeface="Arial"/>
                <a:ea typeface="Arial"/>
                <a:cs typeface="Arial"/>
              </a:rPr>
              <a:t>Система автоматического возврата клиентов</a:t>
            </a:r>
          </a:p>
          <a:p xmlns:a="http://schemas.openxmlformats.org/drawingml/2006/main">
            <a:pPr>
              <a:buNone/>
              <a:defRPr sz="2250">
                <a:solidFill>
                  <a:srgbClr val="071B44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071B44"/>
                </a:solidFill>
                <a:latin typeface="Arial"/>
                <a:ea typeface="Arial"/>
                <a:cs typeface="Arial"/>
              </a:rPr>
              <a:t>на плановое обслуживание оборудования</a:t>
            </a:r>
          </a:p>
        </p:txBody>
      </p:sp>
      <p:sp>
        <p:nvSpPr>
          <p:cNvPr id="4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36B8BD4A-6543-487F-8363-79971E86F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600200"/>
            <a:ext cx="188595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84F5"/>
          </a:solidFill>
          <a:ln xmlns:a="http://schemas.openxmlformats.org/drawingml/2006/main" w="0">
            <a:solidFill>
              <a:srgbClr val="2484F5"/>
            </a:solidFill>
            <a:prstDash val="solid"/>
          </a:ln>
        </p:spPr>
      </p:sp>
      <p:sp>
        <p:nvSpPr>
          <p:cNvPr id="5" name="cover-accent-soft">
            <a:extLst xmlns:a="http://schemas.openxmlformats.org/drawingml/2006/main">
              <a:ext uri="{FF2B5EF4-FFF2-40B4-BE49-F238E27FC236}">
                <a16:creationId xmlns:a16="http://schemas.microsoft.com/office/drawing/2014/main" id="{06558A09-0DA5-4B90-8E51-EDD8F2843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400300"/>
            <a:ext cx="14668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page-1">
            <a:extLst xmlns:a="http://schemas.openxmlformats.org/drawingml/2006/main">
              <a:ext uri="{FF2B5EF4-FFF2-40B4-BE49-F238E27FC236}">
                <a16:creationId xmlns:a16="http://schemas.microsoft.com/office/drawing/2014/main" id="{4924D3CC-095B-4833-9405-C15CDDF39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389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2627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579066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2">
            <a:extLst xmlns:a="http://schemas.openxmlformats.org/drawingml/2006/main">
              <a:ext uri="{FF2B5EF4-FFF2-40B4-BE49-F238E27FC236}">
                <a16:creationId xmlns:a16="http://schemas.microsoft.com/office/drawing/2014/main" id="{99DB2D4F-ED6E-44B7-93B8-3702EB42E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Компания начинает работу самостоятельно</a:t>
            </a:r>
          </a:p>
        </p:txBody>
      </p:sp>
      <p:sp>
        <p:nvSpPr>
          <p:cNvPr id="2" name="subtitle-2">
            <a:extLst xmlns:a="http://schemas.openxmlformats.org/drawingml/2006/main">
              <a:ext uri="{FF2B5EF4-FFF2-40B4-BE49-F238E27FC236}">
                <a16:creationId xmlns:a16="http://schemas.microsoft.com/office/drawing/2014/main" id="{6A97B35D-2D99-46FD-BC9B-9DA9C8CAE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6200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2627A"/>
                </a:solidFill>
                <a:latin typeface="Arial"/>
                <a:ea typeface="Arial"/>
                <a:cs typeface="Arial"/>
              </a:rPr>
              <a:t>Регистрация, подтверждение email и короткий онбординг — без участия администратора.</a:t>
            </a:r>
          </a:p>
        </p:txBody>
      </p:sp>
      <p:sp>
        <p:nvSpPr>
          <p:cNvPr id="3" name="screen-backing-2">
            <a:extLst xmlns:a="http://schemas.openxmlformats.org/drawingml/2006/main">
              <a:ext uri="{FF2B5EF4-FFF2-40B4-BE49-F238E27FC236}">
                <a16:creationId xmlns:a16="http://schemas.microsoft.com/office/drawing/2014/main" id="{2B0B11CF-F032-4C3F-BA1A-1C1E68EC9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1171575"/>
            <a:ext cx="9963150" cy="5600700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page-2">
            <a:extLst xmlns:a="http://schemas.openxmlformats.org/drawingml/2006/main">
              <a:ext uri="{FF2B5EF4-FFF2-40B4-BE49-F238E27FC236}">
                <a16:creationId xmlns:a16="http://schemas.microsoft.com/office/drawing/2014/main" id="{63CE3BFB-7C56-4ECC-89C2-D5F14E9CF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389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2627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f1f3b812074643"/>
          <a:stretch xmlns:a="http://schemas.openxmlformats.org/drawingml/2006/main"/>
        </p:blipFill>
        <p:spPr>
          <a:xfrm xmlns:a="http://schemas.openxmlformats.org/drawingml/2006/main" flipH="0" flipV="0">
            <a:off x="1137170" y="1181100"/>
            <a:ext cx="9917661" cy="5581650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7070370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3">
            <a:extLst xmlns:a="http://schemas.openxmlformats.org/drawingml/2006/main">
              <a:ext uri="{FF2B5EF4-FFF2-40B4-BE49-F238E27FC236}">
                <a16:creationId xmlns:a16="http://schemas.microsoft.com/office/drawing/2014/main" id="{AB5C6069-2075-44F5-BDE0-8FF4F7693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Первого клиента можно добавить удобным способом</a:t>
            </a:r>
          </a:p>
        </p:txBody>
      </p:sp>
      <p:sp>
        <p:nvSpPr>
          <p:cNvPr id="2" name="subtitle-3">
            <a:extLst xmlns:a="http://schemas.openxmlformats.org/drawingml/2006/main">
              <a:ext uri="{FF2B5EF4-FFF2-40B4-BE49-F238E27FC236}">
                <a16:creationId xmlns:a16="http://schemas.microsoft.com/office/drawing/2014/main" id="{A7514AFE-246E-4509-BF3C-3C8FE3E6F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6200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2627A"/>
                </a:solidFill>
                <a:latin typeface="Arial"/>
                <a:ea typeface="Arial"/>
                <a:cs typeface="Arial"/>
              </a:rPr>
              <a:t>Пустой список предлагает импорт Excel или ручное добавление — пользователь сам выбирает следующий шаг.</a:t>
            </a:r>
          </a:p>
        </p:txBody>
      </p:sp>
      <p:sp>
        <p:nvSpPr>
          <p:cNvPr id="3" name="screen-backing-3">
            <a:extLst xmlns:a="http://schemas.openxmlformats.org/drawingml/2006/main">
              <a:ext uri="{FF2B5EF4-FFF2-40B4-BE49-F238E27FC236}">
                <a16:creationId xmlns:a16="http://schemas.microsoft.com/office/drawing/2014/main" id="{A9364085-345F-43FE-BA62-45754436A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1171575"/>
            <a:ext cx="9963150" cy="5600700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page-3">
            <a:extLst xmlns:a="http://schemas.openxmlformats.org/drawingml/2006/main">
              <a:ext uri="{FF2B5EF4-FFF2-40B4-BE49-F238E27FC236}">
                <a16:creationId xmlns:a16="http://schemas.microsoft.com/office/drawing/2014/main" id="{B2510E4D-8467-4FA9-84B1-B97200968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389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2627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e3c878d5be4d41"/>
          <a:stretch xmlns:a="http://schemas.openxmlformats.org/drawingml/2006/main"/>
        </p:blipFill>
        <p:spPr>
          <a:xfrm xmlns:a="http://schemas.openxmlformats.org/drawingml/2006/main" flipH="0" flipV="0">
            <a:off x="1137170" y="1181100"/>
            <a:ext cx="9917661" cy="5581650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96162825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3">
            <a:extLst xmlns:a="http://schemas.openxmlformats.org/drawingml/2006/main">
              <a:ext uri="{FF2B5EF4-FFF2-40B4-BE49-F238E27FC236}">
                <a16:creationId xmlns:a16="http://schemas.microsoft.com/office/drawing/2014/main" id="{AB5C6069-2075-44F5-BDE0-8FF4F7693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Клиентскую базу можно загрузить за несколько минут</a:t>
            </a:r>
          </a:p>
        </p:txBody>
      </p:sp>
      <p:sp>
        <p:nvSpPr>
          <p:cNvPr id="2" name="subtitle-3">
            <a:extLst xmlns:a="http://schemas.openxmlformats.org/drawingml/2006/main">
              <a:ext uri="{FF2B5EF4-FFF2-40B4-BE49-F238E27FC236}">
                <a16:creationId xmlns:a16="http://schemas.microsoft.com/office/drawing/2014/main" id="{A7514AFE-246E-4509-BF3C-3C8FE3E6F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6200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2627A"/>
                </a:solidFill>
                <a:latin typeface="Arial"/>
                <a:ea typeface="Arial"/>
                <a:cs typeface="Arial"/>
              </a:rPr>
              <a:t>Excel-импорт и ручное добавление позволяют начать без сложной интеграции.</a:t>
            </a:r>
          </a:p>
        </p:txBody>
      </p:sp>
      <p:sp>
        <p:nvSpPr>
          <p:cNvPr id="3" name="screen-backing-3">
            <a:extLst xmlns:a="http://schemas.openxmlformats.org/drawingml/2006/main">
              <a:ext uri="{FF2B5EF4-FFF2-40B4-BE49-F238E27FC236}">
                <a16:creationId xmlns:a16="http://schemas.microsoft.com/office/drawing/2014/main" id="{A9364085-345F-43FE-BA62-45754436A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1171575"/>
            <a:ext cx="9963150" cy="5600700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page-3">
            <a:extLst xmlns:a="http://schemas.openxmlformats.org/drawingml/2006/main">
              <a:ext uri="{FF2B5EF4-FFF2-40B4-BE49-F238E27FC236}">
                <a16:creationId xmlns:a16="http://schemas.microsoft.com/office/drawing/2014/main" id="{B2510E4D-8467-4FA9-84B1-B97200968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389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2627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8b8a1d3d1f4d6c"/>
          <a:stretch xmlns:a="http://schemas.openxmlformats.org/drawingml/2006/main"/>
        </p:blipFill>
        <p:spPr>
          <a:xfrm xmlns:a="http://schemas.openxmlformats.org/drawingml/2006/main" flipH="0" flipV="0">
            <a:off x="1137170" y="1181100"/>
            <a:ext cx="9917661" cy="5581650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9616282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3">
            <a:extLst xmlns:a="http://schemas.openxmlformats.org/drawingml/2006/main">
              <a:ext uri="{FF2B5EF4-FFF2-40B4-BE49-F238E27FC236}">
                <a16:creationId xmlns:a16="http://schemas.microsoft.com/office/drawing/2014/main" id="{AB5C6069-2075-44F5-BDE0-8FF4F7693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Ошибки видны до сохранения данных</a:t>
            </a:r>
          </a:p>
        </p:txBody>
      </p:sp>
      <p:sp>
        <p:nvSpPr>
          <p:cNvPr id="2" name="subtitle-3">
            <a:extLst xmlns:a="http://schemas.openxmlformats.org/drawingml/2006/main">
              <a:ext uri="{FF2B5EF4-FFF2-40B4-BE49-F238E27FC236}">
                <a16:creationId xmlns:a16="http://schemas.microsoft.com/office/drawing/2014/main" id="{A7514AFE-246E-4509-BF3C-3C8FE3E6F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6200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2627A"/>
                </a:solidFill>
                <a:latin typeface="Arial"/>
                <a:ea typeface="Arial"/>
                <a:cs typeface="Arial"/>
              </a:rPr>
              <a:t>Предпросмотр отделяет корректные строки от тех, которые нужно исправить.</a:t>
            </a:r>
          </a:p>
        </p:txBody>
      </p:sp>
      <p:sp>
        <p:nvSpPr>
          <p:cNvPr id="3" name="screen-backing-3">
            <a:extLst xmlns:a="http://schemas.openxmlformats.org/drawingml/2006/main">
              <a:ext uri="{FF2B5EF4-FFF2-40B4-BE49-F238E27FC236}">
                <a16:creationId xmlns:a16="http://schemas.microsoft.com/office/drawing/2014/main" id="{A9364085-345F-43FE-BA62-45754436A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1171575"/>
            <a:ext cx="9963150" cy="5600700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page-3">
            <a:extLst xmlns:a="http://schemas.openxmlformats.org/drawingml/2006/main">
              <a:ext uri="{FF2B5EF4-FFF2-40B4-BE49-F238E27FC236}">
                <a16:creationId xmlns:a16="http://schemas.microsoft.com/office/drawing/2014/main" id="{B2510E4D-8467-4FA9-84B1-B97200968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389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2627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64fdd2b9fb48c7"/>
          <a:stretch xmlns:a="http://schemas.openxmlformats.org/drawingml/2006/main"/>
        </p:blipFill>
        <p:spPr>
          <a:xfrm xmlns:a="http://schemas.openxmlformats.org/drawingml/2006/main" flipH="0" flipV="0">
            <a:off x="1137170" y="1181100"/>
            <a:ext cx="9917661" cy="5581650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96162825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3">
            <a:extLst xmlns:a="http://schemas.openxmlformats.org/drawingml/2006/main">
              <a:ext uri="{FF2B5EF4-FFF2-40B4-BE49-F238E27FC236}">
                <a16:creationId xmlns:a16="http://schemas.microsoft.com/office/drawing/2014/main" id="{AB5C6069-2075-44F5-BDE0-8FF4F7693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Пользователь подтверждает результат проверки</a:t>
            </a:r>
          </a:p>
        </p:txBody>
      </p:sp>
      <p:sp>
        <p:nvSpPr>
          <p:cNvPr id="2" name="subtitle-3">
            <a:extLst xmlns:a="http://schemas.openxmlformats.org/drawingml/2006/main">
              <a:ext uri="{FF2B5EF4-FFF2-40B4-BE49-F238E27FC236}">
                <a16:creationId xmlns:a16="http://schemas.microsoft.com/office/drawing/2014/main" id="{A7514AFE-246E-4509-BF3C-3C8FE3E6F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6200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2627A"/>
                </a:solidFill>
                <a:latin typeface="Arial"/>
                <a:ea typeface="Arial"/>
                <a:cs typeface="Arial"/>
              </a:rPr>
              <a:t>Перед записью в базу видно, сколько строк будет импортировано и сколько пропущено.</a:t>
            </a:r>
          </a:p>
        </p:txBody>
      </p:sp>
      <p:sp>
        <p:nvSpPr>
          <p:cNvPr id="3" name="screen-backing-3">
            <a:extLst xmlns:a="http://schemas.openxmlformats.org/drawingml/2006/main">
              <a:ext uri="{FF2B5EF4-FFF2-40B4-BE49-F238E27FC236}">
                <a16:creationId xmlns:a16="http://schemas.microsoft.com/office/drawing/2014/main" id="{A9364085-345F-43FE-BA62-45754436A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1171575"/>
            <a:ext cx="9963150" cy="5600700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page-3">
            <a:extLst xmlns:a="http://schemas.openxmlformats.org/drawingml/2006/main">
              <a:ext uri="{FF2B5EF4-FFF2-40B4-BE49-F238E27FC236}">
                <a16:creationId xmlns:a16="http://schemas.microsoft.com/office/drawing/2014/main" id="{B2510E4D-8467-4FA9-84B1-B97200968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389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2627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fb847f91774b80"/>
          <a:stretch xmlns:a="http://schemas.openxmlformats.org/drawingml/2006/main"/>
        </p:blipFill>
        <p:spPr>
          <a:xfrm xmlns:a="http://schemas.openxmlformats.org/drawingml/2006/main" flipH="0" flipV="0">
            <a:off x="1137170" y="1181100"/>
            <a:ext cx="9917661" cy="5581650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96162825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3">
            <a:extLst xmlns:a="http://schemas.openxmlformats.org/drawingml/2006/main">
              <a:ext uri="{FF2B5EF4-FFF2-40B4-BE49-F238E27FC236}">
                <a16:creationId xmlns:a16="http://schemas.microsoft.com/office/drawing/2014/main" id="{AB5C6069-2075-44F5-BDE0-8FF4F7693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Импорт завершается понятным результатом</a:t>
            </a:r>
          </a:p>
        </p:txBody>
      </p:sp>
      <p:sp>
        <p:nvSpPr>
          <p:cNvPr id="2" name="subtitle-3">
            <a:extLst xmlns:a="http://schemas.openxmlformats.org/drawingml/2006/main">
              <a:ext uri="{FF2B5EF4-FFF2-40B4-BE49-F238E27FC236}">
                <a16:creationId xmlns:a16="http://schemas.microsoft.com/office/drawing/2014/main" id="{A7514AFE-246E-4509-BF3C-3C8FE3E6F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6200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2627A"/>
                </a:solidFill>
                <a:latin typeface="Arial"/>
                <a:ea typeface="Arial"/>
                <a:cs typeface="Arial"/>
              </a:rPr>
              <a:t>Система показывает созданных и обновлённых клиентов, оборудование и пропущенные строки.</a:t>
            </a:r>
          </a:p>
        </p:txBody>
      </p:sp>
      <p:sp>
        <p:nvSpPr>
          <p:cNvPr id="3" name="screen-backing-3">
            <a:extLst xmlns:a="http://schemas.openxmlformats.org/drawingml/2006/main">
              <a:ext uri="{FF2B5EF4-FFF2-40B4-BE49-F238E27FC236}">
                <a16:creationId xmlns:a16="http://schemas.microsoft.com/office/drawing/2014/main" id="{A9364085-345F-43FE-BA62-45754436A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1171575"/>
            <a:ext cx="9963150" cy="5600700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page-3">
            <a:extLst xmlns:a="http://schemas.openxmlformats.org/drawingml/2006/main">
              <a:ext uri="{FF2B5EF4-FFF2-40B4-BE49-F238E27FC236}">
                <a16:creationId xmlns:a16="http://schemas.microsoft.com/office/drawing/2014/main" id="{B2510E4D-8467-4FA9-84B1-B97200968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389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2627A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92e36a70364251"/>
          <a:stretch xmlns:a="http://schemas.openxmlformats.org/drawingml/2006/main"/>
        </p:blipFill>
        <p:spPr>
          <a:xfrm xmlns:a="http://schemas.openxmlformats.org/drawingml/2006/main" flipH="0" flipV="0">
            <a:off x="1137170" y="1181100"/>
            <a:ext cx="9917661" cy="5581650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96162825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3">
            <a:extLst xmlns:a="http://schemas.openxmlformats.org/drawingml/2006/main">
              <a:ext uri="{FF2B5EF4-FFF2-40B4-BE49-F238E27FC236}">
                <a16:creationId xmlns:a16="http://schemas.microsoft.com/office/drawing/2014/main" id="{AB5C6069-2075-44F5-BDE0-8FF4F7693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Клиент и оборудование связаны одной историей</a:t>
            </a:r>
          </a:p>
        </p:txBody>
      </p:sp>
      <p:sp>
        <p:nvSpPr>
          <p:cNvPr id="2" name="subtitle-3">
            <a:extLst xmlns:a="http://schemas.openxmlformats.org/drawingml/2006/main">
              <a:ext uri="{FF2B5EF4-FFF2-40B4-BE49-F238E27FC236}">
                <a16:creationId xmlns:a16="http://schemas.microsoft.com/office/drawing/2014/main" id="{A7514AFE-246E-4509-BF3C-3C8FE3E6F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6200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2627A"/>
                </a:solidFill>
                <a:latin typeface="Arial"/>
                <a:ea typeface="Arial"/>
                <a:cs typeface="Arial"/>
              </a:rPr>
              <a:t>База хранит объект обслуживания, периодичность, даты и все выполненные работы.</a:t>
            </a:r>
          </a:p>
        </p:txBody>
      </p:sp>
      <p:sp>
        <p:nvSpPr>
          <p:cNvPr id="3" name="screen-backing-3">
            <a:extLst xmlns:a="http://schemas.openxmlformats.org/drawingml/2006/main">
              <a:ext uri="{FF2B5EF4-FFF2-40B4-BE49-F238E27FC236}">
                <a16:creationId xmlns:a16="http://schemas.microsoft.com/office/drawing/2014/main" id="{A9364085-345F-43FE-BA62-45754436A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1171575"/>
            <a:ext cx="9963150" cy="5600700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cf80220c54429c"/>
          <a:stretch xmlns:a="http://schemas.openxmlformats.org/drawingml/2006/main"/>
        </p:blipFill>
        <p:spPr>
          <a:xfrm xmlns:a="http://schemas.openxmlformats.org/drawingml/2006/main">
            <a:off x="1137170" y="1181100"/>
            <a:ext cx="9917661" cy="5581650"/>
          </a:xfrm>
          <a:prstGeom xmlns:a="http://schemas.openxmlformats.org/drawingml/2006/main" prst="roundRect">
            <a:avLst>
              <a:gd name="adj" fmla="val 2048"/>
            </a:avLst>
          </a:prstGeom>
        </p:spPr>
      </p:pic>
      <p:sp>
        <p:nvSpPr>
          <p:cNvPr id="5" name="page-3">
            <a:extLst xmlns:a="http://schemas.openxmlformats.org/drawingml/2006/main">
              <a:ext uri="{FF2B5EF4-FFF2-40B4-BE49-F238E27FC236}">
                <a16:creationId xmlns:a16="http://schemas.microsoft.com/office/drawing/2014/main" id="{B2510E4D-8467-4FA9-84B1-B97200968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389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2627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96162825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4">
            <a:extLst xmlns:a="http://schemas.openxmlformats.org/drawingml/2006/main">
              <a:ext uri="{FF2B5EF4-FFF2-40B4-BE49-F238E27FC236}">
                <a16:creationId xmlns:a16="http://schemas.microsoft.com/office/drawing/2014/main" id="{FDC8FECD-5FDE-482C-9A7F-42B44AEC4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Сервисный цикл настраивается один раз</a:t>
            </a:r>
          </a:p>
        </p:txBody>
      </p:sp>
      <p:sp>
        <p:nvSpPr>
          <p:cNvPr id="2" name="subtitle-4">
            <a:extLst xmlns:a="http://schemas.openxmlformats.org/drawingml/2006/main">
              <a:ext uri="{FF2B5EF4-FFF2-40B4-BE49-F238E27FC236}">
                <a16:creationId xmlns:a16="http://schemas.microsoft.com/office/drawing/2014/main" id="{B63CF1FE-719F-4CC0-BBF1-3D5FDEC24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6200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2627A"/>
                </a:solidFill>
                <a:latin typeface="Arial"/>
                <a:ea typeface="Arial"/>
                <a:cs typeface="Arial"/>
              </a:rPr>
              <a:t>Периодичность, канал и сценарий уведомлений определяют дальнейшие действия системы.</a:t>
            </a:r>
          </a:p>
        </p:txBody>
      </p:sp>
      <p:sp>
        <p:nvSpPr>
          <p:cNvPr id="3" name="screen-backing-4">
            <a:extLst xmlns:a="http://schemas.openxmlformats.org/drawingml/2006/main">
              <a:ext uri="{FF2B5EF4-FFF2-40B4-BE49-F238E27FC236}">
                <a16:creationId xmlns:a16="http://schemas.microsoft.com/office/drawing/2014/main" id="{033F0AC0-F49D-4123-B4A0-BDAEBC145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1171575"/>
            <a:ext cx="9963150" cy="5600700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page-4">
            <a:extLst xmlns:a="http://schemas.openxmlformats.org/drawingml/2006/main">
              <a:ext uri="{FF2B5EF4-FFF2-40B4-BE49-F238E27FC236}">
                <a16:creationId xmlns:a16="http://schemas.microsoft.com/office/drawing/2014/main" id="{5EFFEF17-206E-4D30-A9E3-EEBDFB1A6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389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2627A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9b16cba1464a5b"/>
          <a:stretch xmlns:a="http://schemas.openxmlformats.org/drawingml/2006/main"/>
        </p:blipFill>
        <p:spPr>
          <a:xfrm xmlns:a="http://schemas.openxmlformats.org/drawingml/2006/main" flipH="0" flipV="0">
            <a:off x="1137170" y="1181100"/>
            <a:ext cx="9917661" cy="5581650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64483135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4">
            <a:extLst xmlns:a="http://schemas.openxmlformats.org/drawingml/2006/main">
              <a:ext uri="{FF2B5EF4-FFF2-40B4-BE49-F238E27FC236}">
                <a16:creationId xmlns:a16="http://schemas.microsoft.com/office/drawing/2014/main" id="{FDC8FECD-5FDE-482C-9A7F-42B44AEC4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Ответ клиента превращается в задачу сотруднику</a:t>
            </a:r>
          </a:p>
        </p:txBody>
      </p:sp>
      <p:sp>
        <p:nvSpPr>
          <p:cNvPr id="2" name="subtitle-4">
            <a:extLst xmlns:a="http://schemas.openxmlformats.org/drawingml/2006/main">
              <a:ext uri="{FF2B5EF4-FFF2-40B4-BE49-F238E27FC236}">
                <a16:creationId xmlns:a16="http://schemas.microsoft.com/office/drawing/2014/main" id="{B63CF1FE-719F-4CC0-BBF1-3D5FDEC24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6200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2627A"/>
                </a:solidFill>
                <a:latin typeface="Arial"/>
                <a:ea typeface="Arial"/>
                <a:cs typeface="Arial"/>
              </a:rPr>
              <a:t>Уведомление → статус клиента → звонок → зафиксированный результат.</a:t>
            </a:r>
          </a:p>
        </p:txBody>
      </p:sp>
      <p:sp>
        <p:nvSpPr>
          <p:cNvPr id="3" name="screen-backing-4">
            <a:extLst xmlns:a="http://schemas.openxmlformats.org/drawingml/2006/main">
              <a:ext uri="{FF2B5EF4-FFF2-40B4-BE49-F238E27FC236}">
                <a16:creationId xmlns:a16="http://schemas.microsoft.com/office/drawing/2014/main" id="{033F0AC0-F49D-4123-B4A0-BDAEBC145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1171575"/>
            <a:ext cx="9963150" cy="5600700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page-4">
            <a:extLst xmlns:a="http://schemas.openxmlformats.org/drawingml/2006/main">
              <a:ext uri="{FF2B5EF4-FFF2-40B4-BE49-F238E27FC236}">
                <a16:creationId xmlns:a16="http://schemas.microsoft.com/office/drawing/2014/main" id="{5EFFEF17-206E-4D30-A9E3-EEBDFB1A6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389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2627A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015df893ac4bc3"/>
          <a:stretch xmlns:a="http://schemas.openxmlformats.org/drawingml/2006/main"/>
        </p:blipFill>
        <p:spPr>
          <a:xfrm xmlns:a="http://schemas.openxmlformats.org/drawingml/2006/main" flipH="0" flipV="0">
            <a:off x="1137170" y="1181100"/>
            <a:ext cx="9917661" cy="5581650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64483135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5">
            <a:extLst xmlns:a="http://schemas.openxmlformats.org/drawingml/2006/main">
              <a:ext uri="{FF2B5EF4-FFF2-40B4-BE49-F238E27FC236}">
                <a16:creationId xmlns:a16="http://schemas.microsoft.com/office/drawing/2014/main" id="{E68F578F-E40F-461E-9D5E-BA4F84A1A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Клиент отвечает без регистрации и приложения</a:t>
            </a:r>
          </a:p>
        </p:txBody>
      </p:sp>
      <p:sp>
        <p:nvSpPr>
          <p:cNvPr id="2" name="subtitle-5">
            <a:extLst xmlns:a="http://schemas.openxmlformats.org/drawingml/2006/main">
              <a:ext uri="{FF2B5EF4-FFF2-40B4-BE49-F238E27FC236}">
                <a16:creationId xmlns:a16="http://schemas.microsoft.com/office/drawing/2014/main" id="{E05AB6BC-7DA8-499D-B2CC-093DFA41C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6200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2627A"/>
                </a:solidFill>
                <a:latin typeface="Arial"/>
                <a:ea typeface="Arial"/>
                <a:cs typeface="Arial"/>
              </a:rPr>
              <a:t>SMS или Telegram ведут на персональную страницу: записаться, отложить или отказаться.</a:t>
            </a:r>
          </a:p>
        </p:txBody>
      </p:sp>
      <p:sp>
        <p:nvSpPr>
          <p:cNvPr id="3" name="screen-backing-5">
            <a:extLst xmlns:a="http://schemas.openxmlformats.org/drawingml/2006/main">
              <a:ext uri="{FF2B5EF4-FFF2-40B4-BE49-F238E27FC236}">
                <a16:creationId xmlns:a16="http://schemas.microsoft.com/office/drawing/2014/main" id="{31A05A67-F6DF-4F33-8F0E-ADF169502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1171575"/>
            <a:ext cx="9963150" cy="5600700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661837f6dc4084"/>
          <a:stretch xmlns:a="http://schemas.openxmlformats.org/drawingml/2006/main"/>
        </p:blipFill>
        <p:spPr>
          <a:xfrm xmlns:a="http://schemas.openxmlformats.org/drawingml/2006/main">
            <a:off x="1137170" y="1181100"/>
            <a:ext cx="9917661" cy="5581650"/>
          </a:xfrm>
          <a:prstGeom xmlns:a="http://schemas.openxmlformats.org/drawingml/2006/main" prst="roundRect">
            <a:avLst>
              <a:gd name="adj" fmla="val 2048"/>
            </a:avLst>
          </a:prstGeom>
        </p:spPr>
      </p:pic>
      <p:sp>
        <p:nvSpPr>
          <p:cNvPr id="5" name="page-5">
            <a:extLst xmlns:a="http://schemas.openxmlformats.org/drawingml/2006/main">
              <a:ext uri="{FF2B5EF4-FFF2-40B4-BE49-F238E27FC236}">
                <a16:creationId xmlns:a16="http://schemas.microsoft.com/office/drawing/2014/main" id="{CFF17759-16A2-408F-966C-373872255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389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2627A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1451804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2">
            <a:extLst xmlns:a="http://schemas.openxmlformats.org/drawingml/2006/main">
              <a:ext uri="{FF2B5EF4-FFF2-40B4-BE49-F238E27FC236}">
                <a16:creationId xmlns:a16="http://schemas.microsoft.com/office/drawing/2014/main" id="{99DB2D4F-ED6E-44B7-93B8-3702EB42E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Руководитель сразу видит результат</a:t>
            </a:r>
          </a:p>
        </p:txBody>
      </p:sp>
      <p:sp>
        <p:nvSpPr>
          <p:cNvPr id="2" name="subtitle-2">
            <a:extLst xmlns:a="http://schemas.openxmlformats.org/drawingml/2006/main">
              <a:ext uri="{FF2B5EF4-FFF2-40B4-BE49-F238E27FC236}">
                <a16:creationId xmlns:a16="http://schemas.microsoft.com/office/drawing/2014/main" id="{6A97B35D-2D99-46FD-BC9B-9DA9C8CAE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6200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2627A"/>
                </a:solidFill>
                <a:latin typeface="Arial"/>
                <a:ea typeface="Arial"/>
                <a:cs typeface="Arial"/>
              </a:rPr>
              <a:t>Просрочки, заявки после напоминаний и возвращённая выручка — на одном экране.</a:t>
            </a:r>
          </a:p>
        </p:txBody>
      </p:sp>
      <p:sp>
        <p:nvSpPr>
          <p:cNvPr id="3" name="screen-backing-2">
            <a:extLst xmlns:a="http://schemas.openxmlformats.org/drawingml/2006/main">
              <a:ext uri="{FF2B5EF4-FFF2-40B4-BE49-F238E27FC236}">
                <a16:creationId xmlns:a16="http://schemas.microsoft.com/office/drawing/2014/main" id="{2B0B11CF-F032-4C3F-BA1A-1C1E68EC9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1171575"/>
            <a:ext cx="9963150" cy="5600700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97e526af5d4874"/>
          <a:stretch xmlns:a="http://schemas.openxmlformats.org/drawingml/2006/main"/>
        </p:blipFill>
        <p:spPr>
          <a:xfrm xmlns:a="http://schemas.openxmlformats.org/drawingml/2006/main">
            <a:off x="1137170" y="1181100"/>
            <a:ext cx="9917661" cy="5581650"/>
          </a:xfrm>
          <a:prstGeom xmlns:a="http://schemas.openxmlformats.org/drawingml/2006/main" prst="roundRect">
            <a:avLst>
              <a:gd name="adj" fmla="val 2048"/>
            </a:avLst>
          </a:prstGeom>
        </p:spPr>
      </p:pic>
      <p:sp>
        <p:nvSpPr>
          <p:cNvPr id="5" name="page-2">
            <a:extLst xmlns:a="http://schemas.openxmlformats.org/drawingml/2006/main">
              <a:ext uri="{FF2B5EF4-FFF2-40B4-BE49-F238E27FC236}">
                <a16:creationId xmlns:a16="http://schemas.microsoft.com/office/drawing/2014/main" id="{63CE3BFB-7C56-4ECC-89C2-D5F14E9CF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389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2627A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7070370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2026-08-28T12:09:53.9860000Z</dcterms:created>
  <dcterms:modified xsi:type="dcterms:W3CDTF">2026-08-28T12:09:53.9860000Z</dcterms:modified>
</coreProperties>
</file>